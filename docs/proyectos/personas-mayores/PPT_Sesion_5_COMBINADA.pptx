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5 · FM-AO-05. Reemplace el recuadro de la izquierda por una foto del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Léala en voz alta y no profundice. Es solo para que sepan la forma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 · 20 min. Empiece usted. Nadie está obligado a hablar. Incluya respuestas no digitales.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2 · 40 min. Subgrupos de 4 o 5. Cada grupo trae UNA sola historia a la plenaria.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3. Bloque de la mañana, con el grupo despierto.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3 · 50 min. Diga en voz alta que el cartel y el voz a voz también son medios válidos.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3. Repita esta frase dos veces y deje un silencio. Es la más importante del bloque.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4 · 20 min. Juego "el mensaje que viaja": una frase pasa de persona en persona y al final se compara con la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5 · 1 hora. Muestre primero un objeto MAL presentado y pregunte al grupo qué le arreglarían.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Nadie está obligado a usar su celular ni a salir en la foto. Puede simularse en papel.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6 · 10 min. Despacio. Sin conteos rápidos, sin competencia, nadie obligado a levantarse.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7 · 50 min. Sin precio la gente no pregunta: insista en ese punto.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Cambie la vela por la técnica del grupo. El aviso es imaginario: no se publican datos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7. Solo 3 o 4 leen en voz alta, no todos. Nadie escribe datos personales.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8 · 1 hora. Deje la diapositiva proyectada durante el almuerzo.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9 · 10 min. Ejemplos: el mercado, un vestido nuevo, la droga del mes, una olla para trabajar. No hay respuesta correcta.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10. Trabaje siempre con casos imaginarios.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10 · 1 hora. Diga cada palabra despacio y pida un ejemplo del grupo. NO pida cifras personales de nadie.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Escríbalo en el tablero renglón por renglón, al mismo tiempo. El valor del tiempo es lo que siempre se olvida: insista ahí.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 al grupo cuántos habrían puesto un precio menor a 11.000. Ahí cae la idea 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idea. Léala y deje un silencio de cinco segundos antes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tres cajas. No use las palabras ingresos ni egresos aquí: entró, salió y quedó bastan.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10 · 40 min. De a dos: quien ya sabe ayuda a quien no. Pasen por las mesas. Es un cálculo de su propio producto, no una cifra personal ni bancaria.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10. Enlaza con el ejercicio de necesidad o gusto de la mañana.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11 · 50 min. Caso imaginario, fichas de papel. Cada grupo explica por qué repartió así. No hay una única respuesta correcta.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12 · 20 min. Actividad breve, adaptada y voluntaria.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13 · 30 min. Cierre en autoestima, no en evaluación. Recoja la caja de preguntas anónimas antes de despedir.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Trabajo en casa · 2 horas. No debe publicar información personal ni usar dinero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6: primera práctica. Deje escritos día, hora y lugar también en el tablero.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256032"/>
            <a:ext cx="3227832" cy="13555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84048"/>
            <a:ext cx="2971800" cy="109956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8522208" y="384048"/>
            <a:ext cx="2971800" cy="1099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38404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54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MEDELLÍN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02412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54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QUIERE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545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28346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VA UNA FOTO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B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GRUPO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77640" y="2011680"/>
            <a:ext cx="566928" cy="292608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0" name="Shape 8"/>
          <p:cNvSpPr/>
          <p:nvPr/>
        </p:nvSpPr>
        <p:spPr>
          <a:xfrm>
            <a:off x="4544568" y="2011680"/>
            <a:ext cx="7086600" cy="292608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22128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5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697480"/>
            <a:ext cx="6400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TELÉFONO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DINERO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4343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Artes y Oficios  ·  Personas Mayores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6035040"/>
            <a:ext cx="7086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B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85800"/>
            <a:ext cx="1188720" cy="11887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006754"/>
            <a:ext cx="546811" cy="5468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68580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vamos a hacer hoy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66928" y="2148840"/>
            <a:ext cx="3502152" cy="1965960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2148840"/>
            <a:ext cx="3502152" cy="10058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350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MAÑANA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7523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conocemos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3558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usamos el teléfono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343400" y="2148840"/>
            <a:ext cx="3502152" cy="1965960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15" name="Shape 12"/>
          <p:cNvSpPr/>
          <p:nvPr/>
        </p:nvSpPr>
        <p:spPr>
          <a:xfrm>
            <a:off x="4343400" y="2148840"/>
            <a:ext cx="3502152" cy="100584"/>
          </a:xfrm>
          <a:prstGeom prst="rect">
            <a:avLst/>
          </a:prstGeom>
          <a:solidFill>
            <a:srgbClr val="0E3A5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99432" y="2350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MAÑANA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599432" y="27523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avisar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33558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cómo cuidarnos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8119872" y="2148840"/>
            <a:ext cx="3502152" cy="1965960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20" name="Shape 17"/>
          <p:cNvSpPr/>
          <p:nvPr/>
        </p:nvSpPr>
        <p:spPr>
          <a:xfrm>
            <a:off x="8119872" y="2148840"/>
            <a:ext cx="3502152" cy="100584"/>
          </a:xfrm>
          <a:prstGeom prst="rect">
            <a:avLst/>
          </a:prstGeom>
          <a:solidFill>
            <a:srgbClr val="0E3A5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375904" y="2350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MAÑANA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375904" y="27523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8375904" y="33558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foto de mi producto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566928" y="4251960"/>
            <a:ext cx="3502152" cy="1965960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25" name="Shape 22"/>
          <p:cNvSpPr/>
          <p:nvPr/>
        </p:nvSpPr>
        <p:spPr>
          <a:xfrm>
            <a:off x="566928" y="4251960"/>
            <a:ext cx="3502152" cy="100584"/>
          </a:xfrm>
          <a:prstGeom prst="rect">
            <a:avLst/>
          </a:prstGeom>
          <a:solidFill>
            <a:srgbClr val="5A6B7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2960" y="4453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MEDIODÍA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485546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Almuerzo</a:t>
            </a:r>
            <a:endParaRPr lang="en-US" sz="28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54589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Descanso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4343400" y="4251960"/>
            <a:ext cx="3502152" cy="1965960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30" name="Shape 27"/>
          <p:cNvSpPr/>
          <p:nvPr/>
        </p:nvSpPr>
        <p:spPr>
          <a:xfrm>
            <a:off x="4343400" y="4251960"/>
            <a:ext cx="3502152" cy="100584"/>
          </a:xfrm>
          <a:prstGeom prst="rect">
            <a:avLst/>
          </a:prstGeom>
          <a:solidFill>
            <a:srgbClr val="0E3A54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599432" y="4453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4599432" y="485546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dinero</a:t>
            </a:r>
            <a:endParaRPr lang="en-US" sz="2800" dirty="0"/>
          </a:p>
        </p:txBody>
      </p:sp>
      <p:sp>
        <p:nvSpPr>
          <p:cNvPr id="33" name="Text 30"/>
          <p:cNvSpPr txBox="1"/>
          <p:nvPr/>
        </p:nvSpPr>
        <p:spPr>
          <a:xfrm>
            <a:off x="4599432" y="54589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entra y lo que sale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8119872" y="4251960"/>
            <a:ext cx="3502152" cy="1965960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35" name="Shape 32"/>
          <p:cNvSpPr/>
          <p:nvPr/>
        </p:nvSpPr>
        <p:spPr>
          <a:xfrm>
            <a:off x="8119872" y="4251960"/>
            <a:ext cx="3502152" cy="10058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375904" y="4453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8375904" y="485546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8375904" y="54589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me llevo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C6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EMPEZAR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46920" y="1143000"/>
            <a:ext cx="1920240" cy="192024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5385" y="1661465"/>
            <a:ext cx="883310" cy="88331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10972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64"/>
              </a:lnSpc>
              <a:buNone/>
            </a:pPr>
            <a:r>
              <a:rPr lang="en-US" sz="4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usa usted</a:t>
            </a:r>
            <a:endParaRPr lang="en-US" sz="4800" dirty="0"/>
          </a:p>
          <a:p>
            <a:pPr indent="0" marL="0">
              <a:lnSpc>
                <a:spcPts val="5664"/>
              </a:lnSpc>
              <a:buNone/>
            </a:pPr>
            <a:r>
              <a:rPr lang="en-US" sz="4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teléfono?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91840"/>
            <a:ext cx="10424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anotando en el tablero todo lo que salga.</a:t>
            </a:r>
            <a:endParaRPr lang="en-US" sz="30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vale el cartel, la llamada y el voz a voz.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9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C6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CONVERSEMOS EN GRUPOS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46920" y="1143000"/>
            <a:ext cx="1920240" cy="192024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5385" y="1661465"/>
            <a:ext cx="883310" cy="88331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10972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64"/>
              </a:lnSpc>
              <a:buNone/>
            </a:pPr>
            <a:r>
              <a:rPr lang="en-US" sz="4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enteró</a:t>
            </a:r>
            <a:endParaRPr lang="en-US" sz="4800" dirty="0"/>
          </a:p>
          <a:p>
            <a:pPr indent="0" marL="0">
              <a:lnSpc>
                <a:spcPts val="5664"/>
              </a:lnSpc>
              <a:buNone/>
            </a:pPr>
            <a:r>
              <a:rPr lang="en-US" sz="4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gente?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91840"/>
            <a:ext cx="10424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Piense en algo que usted vendió, prestó o regaló.</a:t>
            </a:r>
            <a:endParaRPr lang="en-US" sz="30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supo la gente que usted lo tenía?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2148840"/>
            <a:ext cx="731520" cy="251460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1488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74320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aviso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hago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80060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llamada · El WhatsApp · La foto · El cartel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9921240" y="2286000"/>
            <a:ext cx="1737360" cy="173736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327" y="2755087"/>
            <a:ext cx="799186" cy="7991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85800"/>
            <a:ext cx="1188720" cy="11887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006754"/>
            <a:ext cx="546811" cy="5468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68580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muchas formas de avisar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1078992" y="2514600"/>
            <a:ext cx="1188720" cy="11887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946" y="2835554"/>
            <a:ext cx="546811" cy="54681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1792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llamada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3291840" y="2514600"/>
            <a:ext cx="1188720" cy="11887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794" y="2835554"/>
            <a:ext cx="546811" cy="54681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3464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WhatsApp</a:t>
            </a:r>
            <a:endParaRPr lang="en-US" sz="2600" dirty="0"/>
          </a:p>
        </p:txBody>
      </p:sp>
      <p:sp>
        <p:nvSpPr>
          <p:cNvPr id="15" name="Shape 10"/>
          <p:cNvSpPr/>
          <p:nvPr/>
        </p:nvSpPr>
        <p:spPr>
          <a:xfrm>
            <a:off x="5504688" y="2514600"/>
            <a:ext cx="1188720" cy="11887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642" y="2835554"/>
            <a:ext cx="546811" cy="54681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047488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foto</a:t>
            </a:r>
            <a:endParaRPr lang="en-US" sz="2600" dirty="0"/>
          </a:p>
        </p:txBody>
      </p:sp>
      <p:sp>
        <p:nvSpPr>
          <p:cNvPr id="18" name="Shape 12"/>
          <p:cNvSpPr/>
          <p:nvPr/>
        </p:nvSpPr>
        <p:spPr>
          <a:xfrm>
            <a:off x="7717536" y="2514600"/>
            <a:ext cx="1188720" cy="11887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8490" y="2835554"/>
            <a:ext cx="546811" cy="54681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260336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cartel</a:t>
            </a:r>
            <a:endParaRPr lang="en-US" sz="2600" dirty="0"/>
          </a:p>
        </p:txBody>
      </p:sp>
      <p:sp>
        <p:nvSpPr>
          <p:cNvPr id="21" name="Shape 14"/>
          <p:cNvSpPr/>
          <p:nvPr/>
        </p:nvSpPr>
        <p:spPr>
          <a:xfrm>
            <a:off x="9930384" y="2514600"/>
            <a:ext cx="1188720" cy="11887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1338" y="2835554"/>
            <a:ext cx="546811" cy="546811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473184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voz a voz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1 DE 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46920" y="1965960"/>
            <a:ext cx="2011680" cy="201168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4" y="2509114"/>
            <a:ext cx="925373" cy="92537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1417320"/>
            <a:ext cx="8686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dé su clave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16052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0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por teléfono. Ni por mensaje. A nadie.</a:t>
            </a:r>
            <a:endParaRPr lang="en-US" sz="3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0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banco nunca le pide la clave.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2 DE 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46920" y="1965960"/>
            <a:ext cx="2011680" cy="201168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4" y="2509114"/>
            <a:ext cx="925373" cy="92537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1417320"/>
            <a:ext cx="8686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21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abra enlaces</a:t>
            </a:r>
            <a:endParaRPr lang="en-US" sz="5400" dirty="0"/>
          </a:p>
          <a:p>
            <a:pPr indent="0" marL="0">
              <a:lnSpc>
                <a:spcPts val="621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raros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16052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0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sabe quién lo mandó, no lo abra.</a:t>
            </a:r>
            <a:endParaRPr lang="en-US" sz="3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0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tiene duda, pregúntele a alguien de confianza.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3 DE 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46920" y="1965960"/>
            <a:ext cx="2011680" cy="201168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4" y="2509114"/>
            <a:ext cx="925373" cy="92537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1417320"/>
            <a:ext cx="8686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98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Pida permiso</a:t>
            </a:r>
            <a:endParaRPr lang="en-US" sz="5200" dirty="0"/>
          </a:p>
          <a:p>
            <a:pPr indent="0" marL="0">
              <a:lnSpc>
                <a:spcPts val="598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la foto</a:t>
            </a:r>
            <a:endParaRPr lang="en-US" sz="52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16052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0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tomarle una foto a alguien, pregúntele.</a:t>
            </a:r>
            <a:endParaRPr lang="en-US" sz="3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0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antes de publicarla, también.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4 DE 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46920" y="1965960"/>
            <a:ext cx="2011680" cy="201168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4" y="2509114"/>
            <a:ext cx="925373" cy="92537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1417320"/>
            <a:ext cx="8686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21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lo apuran,</a:t>
            </a:r>
            <a:endParaRPr lang="en-US" sz="5400" dirty="0"/>
          </a:p>
          <a:p>
            <a:pPr indent="0" marL="0">
              <a:lnSpc>
                <a:spcPts val="621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desconfíe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16052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0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serio le pide plata de afán.</a:t>
            </a:r>
            <a:endParaRPr lang="en-US" sz="3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0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 por un número que usted ya conozca.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DESCANSO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0" y="2240280"/>
            <a:ext cx="2011680" cy="201168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4354" y="2783434"/>
            <a:ext cx="925373" cy="92537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178308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Refrigerio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15468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minutos</a:t>
            </a:r>
            <a:endParaRPr lang="en-US" sz="4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85800"/>
            <a:ext cx="1188720" cy="11887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006754"/>
            <a:ext cx="546811" cy="5468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68580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se ve bien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66928" y="2103120"/>
            <a:ext cx="3502152" cy="3566160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2103120"/>
            <a:ext cx="3502152" cy="10058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1" name="Shape 8"/>
          <p:cNvSpPr/>
          <p:nvPr/>
        </p:nvSpPr>
        <p:spPr>
          <a:xfrm>
            <a:off x="1700784" y="2395728"/>
            <a:ext cx="1234440" cy="123444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83" y="2729027"/>
            <a:ext cx="567842" cy="567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5528" y="365760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Con luz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795528" y="4315968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3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lado de</a:t>
            </a:r>
            <a:endParaRPr lang="en-US" sz="2300" dirty="0"/>
          </a:p>
          <a:p>
            <a:pPr algn="ctr" indent="0" marL="0">
              <a:lnSpc>
                <a:spcPts val="3100"/>
              </a:lnSpc>
              <a:buNone/>
            </a:pPr>
            <a:r>
              <a:rPr lang="en-US" sz="23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ventana</a:t>
            </a:r>
            <a:endParaRPr lang="en-US" sz="2300" dirty="0"/>
          </a:p>
        </p:txBody>
      </p:sp>
      <p:sp>
        <p:nvSpPr>
          <p:cNvPr id="15" name="Shape 11"/>
          <p:cNvSpPr/>
          <p:nvPr/>
        </p:nvSpPr>
        <p:spPr>
          <a:xfrm>
            <a:off x="4343400" y="2103120"/>
            <a:ext cx="3502152" cy="3566160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16" name="Shape 12"/>
          <p:cNvSpPr/>
          <p:nvPr/>
        </p:nvSpPr>
        <p:spPr>
          <a:xfrm>
            <a:off x="4343400" y="2103120"/>
            <a:ext cx="3502152" cy="10058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7" name="Shape 13"/>
          <p:cNvSpPr/>
          <p:nvPr/>
        </p:nvSpPr>
        <p:spPr>
          <a:xfrm>
            <a:off x="5477256" y="2395728"/>
            <a:ext cx="1234440" cy="123444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5" y="2729027"/>
            <a:ext cx="567842" cy="567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72000" y="365760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Sin desorden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0" y="4315968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3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tela o una</a:t>
            </a:r>
            <a:endParaRPr lang="en-US" sz="2300" dirty="0"/>
          </a:p>
          <a:p>
            <a:pPr algn="ctr" indent="0" marL="0">
              <a:lnSpc>
                <a:spcPts val="3100"/>
              </a:lnSpc>
              <a:buNone/>
            </a:pPr>
            <a:r>
              <a:rPr lang="en-US" sz="23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pared limpia</a:t>
            </a:r>
            <a:endParaRPr lang="en-US" sz="2300" dirty="0"/>
          </a:p>
        </p:txBody>
      </p:sp>
      <p:sp>
        <p:nvSpPr>
          <p:cNvPr id="21" name="Shape 16"/>
          <p:cNvSpPr/>
          <p:nvPr/>
        </p:nvSpPr>
        <p:spPr>
          <a:xfrm>
            <a:off x="8119872" y="2103120"/>
            <a:ext cx="3502152" cy="3566160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22" name="Shape 17"/>
          <p:cNvSpPr/>
          <p:nvPr/>
        </p:nvSpPr>
        <p:spPr>
          <a:xfrm>
            <a:off x="8119872" y="2103120"/>
            <a:ext cx="3502152" cy="10058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23" name="Shape 18"/>
          <p:cNvSpPr/>
          <p:nvPr/>
        </p:nvSpPr>
        <p:spPr>
          <a:xfrm>
            <a:off x="9253728" y="2395728"/>
            <a:ext cx="1234440" cy="123444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7027" y="2729027"/>
            <a:ext cx="567842" cy="56784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348472" y="365760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De cerquita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8348472" y="4315968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3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se vea</a:t>
            </a:r>
            <a:endParaRPr lang="en-US" sz="2300" dirty="0"/>
          </a:p>
          <a:p>
            <a:pPr algn="ctr" indent="0" marL="0">
              <a:lnSpc>
                <a:spcPts val="3100"/>
              </a:lnSpc>
              <a:buNone/>
            </a:pPr>
            <a:r>
              <a:rPr lang="en-US" sz="23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 grande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9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C6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USTED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46920" y="1143000"/>
            <a:ext cx="1920240" cy="192024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5385" y="1661465"/>
            <a:ext cx="883310" cy="88331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10972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192"/>
              </a:lnSpc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Tómele una foto a</a:t>
            </a:r>
            <a:endParaRPr lang="en-US" sz="4400" dirty="0"/>
          </a:p>
          <a:p>
            <a:pPr indent="0" marL="0">
              <a:lnSpc>
                <a:spcPts val="5192"/>
              </a:lnSpc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usted hace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91840"/>
            <a:ext cx="10424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tiene teléfono, dibújelo en una hoja.</a:t>
            </a:r>
            <a:endParaRPr lang="en-US" sz="30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dos formas valen igual.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566928" y="5349240"/>
            <a:ext cx="11064240" cy="868680"/>
          </a:xfrm>
          <a:prstGeom prst="rect">
            <a:avLst/>
          </a:prstGeom>
          <a:solidFill>
            <a:srgbClr val="FDEBE1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5349240"/>
            <a:ext cx="128016" cy="86868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  Anexe aquí una foto de una pieza de la técnica del grupo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ESTIRAMOS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0" y="2240280"/>
            <a:ext cx="2011680" cy="201168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4354" y="2783434"/>
            <a:ext cx="925373" cy="92537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178308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 activa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15468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20624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8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Movemos hombros, manos y tobillos.</a:t>
            </a:r>
            <a:endParaRPr lang="en-US" sz="2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8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Sentados o de pie, como cada quien pueda.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85800"/>
            <a:ext cx="1188720" cy="11887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006754"/>
            <a:ext cx="546811" cy="5468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68580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aviso lleva cuatro cosas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1241298" y="2514600"/>
            <a:ext cx="1417320" cy="14173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974" y="2897276"/>
            <a:ext cx="651967" cy="6519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1792" y="4206240"/>
            <a:ext cx="2656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nombre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621792" y="4892040"/>
            <a:ext cx="26563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llama</a:t>
            </a:r>
            <a:endParaRPr lang="en-US" sz="24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hace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4007358" y="2514600"/>
            <a:ext cx="1417320" cy="14173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034" y="2897276"/>
            <a:ext cx="651967" cy="6519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87852" y="4206240"/>
            <a:ext cx="2656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</a:t>
            </a:r>
            <a:endParaRPr lang="en-US" sz="3200" dirty="0"/>
          </a:p>
        </p:txBody>
      </p:sp>
      <p:sp>
        <p:nvSpPr>
          <p:cNvPr id="16" name="Text 11"/>
          <p:cNvSpPr txBox="1"/>
          <p:nvPr/>
        </p:nvSpPr>
        <p:spPr>
          <a:xfrm>
            <a:off x="3387852" y="4892040"/>
            <a:ext cx="26563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</a:t>
            </a:r>
            <a:endParaRPr lang="en-US" sz="24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6773418" y="2514600"/>
            <a:ext cx="1417320" cy="14173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094" y="2897276"/>
            <a:ext cx="651967" cy="6519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153912" y="4206240"/>
            <a:ext cx="2656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vale</a:t>
            </a:r>
            <a:endParaRPr lang="en-US" sz="3200" dirty="0"/>
          </a:p>
        </p:txBody>
      </p:sp>
      <p:sp>
        <p:nvSpPr>
          <p:cNvPr id="20" name="Text 14"/>
          <p:cNvSpPr txBox="1"/>
          <p:nvPr/>
        </p:nvSpPr>
        <p:spPr>
          <a:xfrm>
            <a:off x="6153912" y="4892040"/>
            <a:ext cx="26563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precio,</a:t>
            </a:r>
            <a:endParaRPr lang="en-US" sz="24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</a:t>
            </a:r>
            <a:endParaRPr lang="en-US" sz="2400" dirty="0"/>
          </a:p>
        </p:txBody>
      </p:sp>
      <p:sp>
        <p:nvSpPr>
          <p:cNvPr id="21" name="Shape 15"/>
          <p:cNvSpPr/>
          <p:nvPr/>
        </p:nvSpPr>
        <p:spPr>
          <a:xfrm>
            <a:off x="9539478" y="2514600"/>
            <a:ext cx="1417320" cy="14173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154" y="2897276"/>
            <a:ext cx="651967" cy="65196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19972" y="4206240"/>
            <a:ext cx="2656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pedirlo</a:t>
            </a:r>
            <a:endParaRPr lang="en-US" sz="3200" dirty="0"/>
          </a:p>
        </p:txBody>
      </p:sp>
      <p:sp>
        <p:nvSpPr>
          <p:cNvPr id="24" name="Text 17"/>
          <p:cNvSpPr txBox="1"/>
          <p:nvPr/>
        </p:nvSpPr>
        <p:spPr>
          <a:xfrm>
            <a:off x="8919972" y="4892040"/>
            <a:ext cx="26563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lo</a:t>
            </a:r>
            <a:endParaRPr lang="en-US" sz="24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buscan a usted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85800"/>
            <a:ext cx="1188720" cy="11887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006754"/>
            <a:ext cx="546811" cy="5468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68580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aviso armado se ve así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66928" y="2103120"/>
            <a:ext cx="7680960" cy="3063240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2103120"/>
            <a:ext cx="128016" cy="306324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2286000"/>
            <a:ext cx="70408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Velas de cera con olor a limón.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 6 horas prendidas.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$ 16.500 cada una.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va mi contacto.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8595360" y="2331720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44000" y="22585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nombre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8595360" y="3063240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0" y="2990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8595360" y="3977640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144000" y="39044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vale</a:t>
            </a:r>
            <a:endParaRPr lang="en-US" sz="2300" dirty="0"/>
          </a:p>
        </p:txBody>
      </p:sp>
      <p:sp>
        <p:nvSpPr>
          <p:cNvPr id="18" name="Shape 15"/>
          <p:cNvSpPr/>
          <p:nvPr/>
        </p:nvSpPr>
        <p:spPr>
          <a:xfrm>
            <a:off x="8595360" y="4617720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44000" y="45445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pedirlo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4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escriba su teléfono ni su dirección en la pantalla del salón.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9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C6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PAREJAS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46920" y="1143000"/>
            <a:ext cx="1920240" cy="192024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5385" y="1661465"/>
            <a:ext cx="883310" cy="88331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10972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28"/>
              </a:lnSpc>
              <a:buNone/>
            </a:pPr>
            <a:r>
              <a:rPr lang="en-US" sz="4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Arme el aviso</a:t>
            </a:r>
            <a:endParaRPr lang="en-US" sz="4600" dirty="0"/>
          </a:p>
          <a:p>
            <a:pPr indent="0" marL="0">
              <a:lnSpc>
                <a:spcPts val="5428"/>
              </a:lnSpc>
              <a:buNone/>
            </a:pPr>
            <a:r>
              <a:rPr lang="en-US" sz="4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su producto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91840"/>
            <a:ext cx="10424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el del compañero. Después el suyo.</a:t>
            </a:r>
            <a:endParaRPr lang="en-US" sz="30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ninguno escribe, lo dictan y el auxiliar escribe.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566928" y="5349240"/>
            <a:ext cx="11064240" cy="868680"/>
          </a:xfrm>
          <a:prstGeom prst="rect">
            <a:avLst/>
          </a:prstGeom>
          <a:solidFill>
            <a:srgbClr val="FDEBE1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5349240"/>
            <a:ext cx="128016" cy="86868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  Anexe aquí un aviso de ejemplo con la técnica del grupo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ALMUERZO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0" y="2240280"/>
            <a:ext cx="2011680" cy="201168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4354" y="2783434"/>
            <a:ext cx="925373" cy="92537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178308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Almuerzo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15468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Volvemos en 1 hora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20624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8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 en el tablero la hora exacta de regreso.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9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C6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DEL ALMUERZO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46920" y="1143000"/>
            <a:ext cx="1920240" cy="192024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5385" y="1661465"/>
            <a:ext cx="883310" cy="88331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10972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64"/>
              </a:lnSpc>
              <a:buNone/>
            </a:pPr>
            <a:r>
              <a:rPr lang="en-US" sz="4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¿Necesidad o gusto?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91840"/>
            <a:ext cx="10424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2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arriba  →  es necesidad.</a:t>
            </a:r>
            <a:endParaRPr lang="en-US" sz="3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2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abajo  →  es gusto.</a:t>
            </a:r>
            <a:endParaRPr lang="en-US" sz="3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2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plana  →  depende.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2148840"/>
            <a:ext cx="731520" cy="251460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1488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74320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dinero de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negocio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80060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entra · Lo que sale · Lo que queda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9921240" y="2286000"/>
            <a:ext cx="1737360" cy="173736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327" y="2755087"/>
            <a:ext cx="799186" cy="79918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85800"/>
            <a:ext cx="1188720" cy="11887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006754"/>
            <a:ext cx="546811" cy="5468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68580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palabras del dinero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1241298" y="2514600"/>
            <a:ext cx="1417320" cy="14173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974" y="2897276"/>
            <a:ext cx="651967" cy="6519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1792" y="4206240"/>
            <a:ext cx="2656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621792" y="4892040"/>
            <a:ext cx="26563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le</a:t>
            </a:r>
            <a:endParaRPr lang="en-US" sz="24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pagan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4007358" y="2514600"/>
            <a:ext cx="1417320" cy="14173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034" y="2897276"/>
            <a:ext cx="651967" cy="6519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87852" y="4206240"/>
            <a:ext cx="2656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</a:t>
            </a:r>
            <a:endParaRPr lang="en-US" sz="3200" dirty="0"/>
          </a:p>
        </p:txBody>
      </p:sp>
      <p:sp>
        <p:nvSpPr>
          <p:cNvPr id="16" name="Text 11"/>
          <p:cNvSpPr txBox="1"/>
          <p:nvPr/>
        </p:nvSpPr>
        <p:spPr>
          <a:xfrm>
            <a:off x="3387852" y="4892040"/>
            <a:ext cx="26563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gastó</a:t>
            </a:r>
            <a:endParaRPr lang="en-US" sz="24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hacerlo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6773418" y="2514600"/>
            <a:ext cx="1417320" cy="141732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094" y="2897276"/>
            <a:ext cx="651967" cy="6519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153912" y="4206240"/>
            <a:ext cx="2656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</a:t>
            </a:r>
            <a:endParaRPr lang="en-US" sz="3200" dirty="0"/>
          </a:p>
        </p:txBody>
      </p:sp>
      <p:sp>
        <p:nvSpPr>
          <p:cNvPr id="20" name="Text 14"/>
          <p:cNvSpPr txBox="1"/>
          <p:nvPr/>
        </p:nvSpPr>
        <p:spPr>
          <a:xfrm>
            <a:off x="6153912" y="4892040"/>
            <a:ext cx="26563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Pasajes,</a:t>
            </a:r>
            <a:endParaRPr lang="en-US" sz="24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bolsas</a:t>
            </a:r>
            <a:endParaRPr lang="en-US" sz="2400" dirty="0"/>
          </a:p>
        </p:txBody>
      </p:sp>
      <p:sp>
        <p:nvSpPr>
          <p:cNvPr id="21" name="Shape 15"/>
          <p:cNvSpPr/>
          <p:nvPr/>
        </p:nvSpPr>
        <p:spPr>
          <a:xfrm>
            <a:off x="9539478" y="2514600"/>
            <a:ext cx="1417320" cy="14173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154" y="2897276"/>
            <a:ext cx="651967" cy="65196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19972" y="4206240"/>
            <a:ext cx="2656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</a:t>
            </a:r>
            <a:endParaRPr lang="en-US" sz="3200" dirty="0"/>
          </a:p>
        </p:txBody>
      </p:sp>
      <p:sp>
        <p:nvSpPr>
          <p:cNvPr id="24" name="Text 17"/>
          <p:cNvSpPr txBox="1"/>
          <p:nvPr/>
        </p:nvSpPr>
        <p:spPr>
          <a:xfrm>
            <a:off x="8919972" y="4892040"/>
            <a:ext cx="26563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guarda</a:t>
            </a:r>
            <a:endParaRPr lang="en-US" sz="24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después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85800"/>
            <a:ext cx="1188720" cy="11887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006754"/>
            <a:ext cx="546811" cy="5468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68580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cuesta hacer UNA vela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10312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10312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 3.000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76148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Pabilo y esencia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76148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 1.000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3419856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Vaso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341985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 2.000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1005840" y="4187952"/>
            <a:ext cx="10149840" cy="36576"/>
          </a:xfrm>
          <a:prstGeom prst="rect">
            <a:avLst/>
          </a:prstGeom>
          <a:solidFill>
            <a:srgbClr val="B6C6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05840" y="4242816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tiempo  (1 hora)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424281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B84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 5.000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1005840" y="5010912"/>
            <a:ext cx="10149840" cy="841248"/>
          </a:xfrm>
          <a:prstGeom prst="rect">
            <a:avLst/>
          </a:prstGeom>
          <a:solidFill>
            <a:srgbClr val="0E3A5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05840" y="5056632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 CUESTA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505663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$ 11.000   </a:t>
            </a: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5943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  Cambie la vela por la técnica del grupo y sus precios reales.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85800"/>
            <a:ext cx="1188720" cy="11887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006754"/>
            <a:ext cx="546811" cy="5468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68580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costo al precio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24028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costó hacerla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2402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$ 11.000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0632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84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quiero ganar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30632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84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 5.500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1005840" y="3950208"/>
            <a:ext cx="10149840" cy="36576"/>
          </a:xfrm>
          <a:prstGeom prst="rect">
            <a:avLst/>
          </a:prstGeom>
          <a:solidFill>
            <a:srgbClr val="0E3A54"/>
          </a:solidFill>
          <a:ln/>
        </p:spPr>
      </p:sp>
      <p:sp>
        <p:nvSpPr>
          <p:cNvPr id="14" name="Shape 11"/>
          <p:cNvSpPr/>
          <p:nvPr/>
        </p:nvSpPr>
        <p:spPr>
          <a:xfrm>
            <a:off x="1005840" y="4096512"/>
            <a:ext cx="10149840" cy="105156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4187952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LA VENDO EN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418795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$ 16.500   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53492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vende en $8.000, está pagando por trabajar.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6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E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DE ORO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828800"/>
            <a:ext cx="8869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tiempo</a:t>
            </a:r>
            <a:endParaRPr lang="en-US" sz="56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se cobra.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66928" y="4343400"/>
            <a:ext cx="1106424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4343400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cuenta las horas que trabajó, el negocio parece que deja plata y en realidad no deja nada.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784080" y="1965960"/>
            <a:ext cx="1783080" cy="178308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5512" y="2447392"/>
            <a:ext cx="820217" cy="82021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85800"/>
            <a:ext cx="1188720" cy="11887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006754"/>
            <a:ext cx="546811" cy="5468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68580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cuenta del mes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66928" y="2240280"/>
            <a:ext cx="3154680" cy="260604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48716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ENTRÓ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01568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</a:t>
            </a:r>
            <a:endParaRPr lang="en-US" sz="23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vendí en el mes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3721608" y="306324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5200" dirty="0"/>
          </a:p>
        </p:txBody>
      </p:sp>
      <p:sp>
        <p:nvSpPr>
          <p:cNvPr id="13" name="Shape 10"/>
          <p:cNvSpPr/>
          <p:nvPr/>
        </p:nvSpPr>
        <p:spPr>
          <a:xfrm>
            <a:off x="4407408" y="2240280"/>
            <a:ext cx="3154680" cy="2606040"/>
          </a:xfrm>
          <a:prstGeom prst="rect">
            <a:avLst/>
          </a:prstGeom>
          <a:solidFill>
            <a:srgbClr val="5A6B7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63440" y="248716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SALIÓ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3401568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Materiales,</a:t>
            </a:r>
            <a:endParaRPr lang="en-US" sz="23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pasajes, bolsas</a:t>
            </a:r>
            <a:endParaRPr lang="en-US" sz="2300" dirty="0"/>
          </a:p>
        </p:txBody>
      </p:sp>
      <p:sp>
        <p:nvSpPr>
          <p:cNvPr id="16" name="Text 13"/>
          <p:cNvSpPr txBox="1"/>
          <p:nvPr/>
        </p:nvSpPr>
        <p:spPr>
          <a:xfrm>
            <a:off x="7562088" y="306324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5200" dirty="0"/>
          </a:p>
        </p:txBody>
      </p:sp>
      <p:sp>
        <p:nvSpPr>
          <p:cNvPr id="17" name="Shape 14"/>
          <p:cNvSpPr/>
          <p:nvPr/>
        </p:nvSpPr>
        <p:spPr>
          <a:xfrm>
            <a:off x="8247888" y="2240280"/>
            <a:ext cx="3154680" cy="260604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503920" y="248716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QUEDÓ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3401568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de verdad</a:t>
            </a:r>
            <a:endParaRPr lang="en-US" sz="23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ganó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50749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lo que queda da negativo: suba el precio o baje los gastos.</a:t>
            </a:r>
            <a:endParaRPr lang="en-US"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9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C6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USTED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46920" y="1143000"/>
            <a:ext cx="1920240" cy="192024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5385" y="1661465"/>
            <a:ext cx="883310" cy="88331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10972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192"/>
              </a:lnSpc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Saque la cuenta</a:t>
            </a:r>
            <a:endParaRPr lang="en-US" sz="4400" dirty="0"/>
          </a:p>
          <a:p>
            <a:pPr indent="0" marL="0">
              <a:lnSpc>
                <a:spcPts val="5192"/>
              </a:lnSpc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SU producto</a:t>
            </a:r>
            <a:endParaRPr lang="en-US" sz="4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337560"/>
          <a:ext cx="10881360" cy="914400"/>
        </p:xfrm>
        <a:graphic>
          <a:graphicData uri="http://schemas.openxmlformats.org/drawingml/2006/table">
            <a:tbl>
              <a:tblPr/>
              <a:tblGrid>
                <a:gridCol w="8138160"/>
                <a:gridCol w="27432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0E3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Mis materiales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600" b="1" dirty="0">
                          <a:solidFill>
                            <a:srgbClr val="0E3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 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0E3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0E3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0E3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Mi tiempo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600" b="1" dirty="0">
                          <a:solidFill>
                            <a:srgbClr val="0E3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 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ME CUESTA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 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B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85800"/>
            <a:ext cx="1188720" cy="11887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006754"/>
            <a:ext cx="546811" cy="5468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68580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comprar, pregúntese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822960" y="2286000"/>
            <a:ext cx="868680" cy="86868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2103120" y="22860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verdad lo necesito?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822960" y="3520440"/>
            <a:ext cx="868680" cy="86868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3520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2103120" y="35204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¿Puedo esperar un poquito?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822960" y="4754880"/>
            <a:ext cx="868680" cy="86868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" y="4754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2103120" y="475488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¿Tengo con qué pagarlo hoy?</a:t>
            </a:r>
            <a:endParaRPr lang="en-US" sz="3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9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C6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46920" y="1143000"/>
            <a:ext cx="1920240" cy="192024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5385" y="1661465"/>
            <a:ext cx="883310" cy="88331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10972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64"/>
              </a:lnSpc>
              <a:buNone/>
            </a:pPr>
            <a:r>
              <a:rPr lang="en-US" sz="4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Repartamos la plata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063240"/>
            <a:ext cx="10424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grupo recibe fichas de dinero y decide</a:t>
            </a:r>
            <a:endParaRPr lang="en-US" sz="30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va para cada cosa: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658368" y="4526280"/>
            <a:ext cx="260604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" y="4526280"/>
            <a:ext cx="2606040" cy="10972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5528" y="463600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Materiales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3447288" y="4526280"/>
            <a:ext cx="260604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3447288" y="4526280"/>
            <a:ext cx="2606040" cy="10972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584448" y="463600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</a:t>
            </a:r>
            <a:endParaRPr lang="en-US" sz="2500" dirty="0"/>
          </a:p>
        </p:txBody>
      </p:sp>
      <p:sp>
        <p:nvSpPr>
          <p:cNvPr id="18" name="Shape 15"/>
          <p:cNvSpPr/>
          <p:nvPr/>
        </p:nvSpPr>
        <p:spPr>
          <a:xfrm>
            <a:off x="6236208" y="4526280"/>
            <a:ext cx="260604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236208" y="4526280"/>
            <a:ext cx="2606040" cy="10972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73368" y="463600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Empaque</a:t>
            </a:r>
            <a:endParaRPr lang="en-US" sz="2500" dirty="0"/>
          </a:p>
        </p:txBody>
      </p:sp>
      <p:sp>
        <p:nvSpPr>
          <p:cNvPr id="21" name="Shape 18"/>
          <p:cNvSpPr/>
          <p:nvPr/>
        </p:nvSpPr>
        <p:spPr>
          <a:xfrm>
            <a:off x="9025128" y="4526280"/>
            <a:ext cx="260604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9025128" y="4526280"/>
            <a:ext cx="2606040" cy="10972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162288" y="463600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</a:t>
            </a:r>
            <a:endParaRPr lang="en-US" sz="2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DESCANSO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0" y="2240280"/>
            <a:ext cx="2011680" cy="201168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4354" y="2783434"/>
            <a:ext cx="925373" cy="92537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178308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Refrigerio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15468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minutos</a:t>
            </a:r>
            <a:endParaRPr lang="en-US" sz="4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9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C6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CERRAR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46920" y="1143000"/>
            <a:ext cx="1920240" cy="192024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5385" y="1661465"/>
            <a:ext cx="883310" cy="88331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10972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64"/>
              </a:lnSpc>
              <a:buNone/>
            </a:pPr>
            <a:r>
              <a:rPr lang="en-US" sz="4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se lleva</a:t>
            </a:r>
            <a:endParaRPr lang="en-US" sz="4800" dirty="0"/>
          </a:p>
          <a:p>
            <a:pPr indent="0" marL="0">
              <a:lnSpc>
                <a:spcPts val="5664"/>
              </a:lnSpc>
              <a:buNone/>
            </a:pPr>
            <a:r>
              <a:rPr lang="en-US" sz="4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hoy?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91840"/>
            <a:ext cx="10424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quien dice una sola cosa.</a:t>
            </a:r>
            <a:endParaRPr lang="en-US" sz="30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23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que no quiera hablar, pasa.</a:t>
            </a:r>
            <a:endParaRPr lang="en-US" sz="3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85800"/>
            <a:ext cx="1188720" cy="118872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006754"/>
            <a:ext cx="546811" cy="5468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68580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casa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66928" y="2194560"/>
            <a:ext cx="11064240" cy="1417320"/>
          </a:xfrm>
          <a:prstGeom prst="rect">
            <a:avLst/>
          </a:prstGeom>
          <a:solidFill>
            <a:srgbClr val="15455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2194560"/>
            <a:ext cx="10424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Escoja cómo mostrar lo que usted hace.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566928" y="3794760"/>
            <a:ext cx="11064240" cy="1417320"/>
          </a:xfrm>
          <a:prstGeom prst="rect">
            <a:avLst/>
          </a:prstGeom>
          <a:solidFill>
            <a:srgbClr val="15455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5840" y="3794760"/>
            <a:ext cx="10424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Piense en un gasto que sí y en uno que puede esperar.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9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frase, un dibujo, un cartel o una foto. Como usted quiera.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6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19488" y="182880"/>
            <a:ext cx="20116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solidFill>
            <a:srgbClr val="F1F4F6"/>
          </a:solidFill>
          <a:ln w="12700">
            <a:solidFill>
              <a:srgbClr val="B6C6D0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9710928" y="2743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80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E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PRÓXIMA CLASE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745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empezamos</a:t>
            </a:r>
            <a:endParaRPr lang="en-US" sz="56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trabajar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784080" y="2011680"/>
            <a:ext cx="1828800" cy="182880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2505456"/>
            <a:ext cx="841248" cy="8412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343400"/>
            <a:ext cx="1106424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3434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Día: __________    Hora: __________    Lugar: __________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6382512"/>
            <a:ext cx="6144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Sesion 5 - El telefono y el dinero de mi negocio</dc:title>
  <dc:subject>PptxGenJS Presentation</dc:subject>
  <dc:creator>Equipo de Personas Mayores</dc:creator>
  <cp:lastModifiedBy>Equipo de Personas Mayores</cp:lastModifiedBy>
  <cp:revision>1</cp:revision>
  <dcterms:created xsi:type="dcterms:W3CDTF">2026-09-09T14:58:29Z</dcterms:created>
  <dcterms:modified xsi:type="dcterms:W3CDTF">2026-09-09T14:58:29Z</dcterms:modified>
</cp:coreProperties>
</file>