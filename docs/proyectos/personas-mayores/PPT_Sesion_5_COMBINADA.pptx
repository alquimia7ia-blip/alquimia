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Sesión 5 · FM-AO-05. Reemplace el recuadro de la izquierda por una foto del grupo.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Léala en voz alta y no profundice. Es solo para que sepan la forma del día.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1 · 20 min. Empiece usted. Nadie está obligado a hablar. Incluya respuestas no digitales.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2 · 40 min. Subgrupos de 4 o 5. Cada grupo trae UNA sola historia a la plenaria.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3. Bloque de la mañana, con el grupo despierto.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3 · 50 min. Diga en voz alta que el cartel y el voz a voz también son medios válidos.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3. Repita esta frase dos veces y deje un silencio. Es la más importante del bloque.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4 · 20 min. Juego "el mensaje que viaja": una frase pasa de persona en persona y al final se compara con la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5 · 1 hora. Muestre primero un objeto MAL presentado y pregunte al grupo qué le arreglarían.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Nadie está obligado a usar su celular ni a salir en la foto. Puede simularse en papel.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6 · 10 min. Despacio. Sin conteos rápidos, sin competencia, nadie obligado a levantarse.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7 · 50 min. Sin precio la gente no pregunta: insista en ese punto.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Cambie la vela por la técnica del grupo. El aviso es imaginario: no se publican datos reales.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7. Solo 3 o 4 leen en voz alta, no todos. Nadie escribe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8 · 1 hora. Deje la diapositiva proyectada durante el almuerzo.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9 · 10 min. Ejemplos: el mercado, un vestido nuevo, la droga del mes, una olla para trabajar. No hay respuesta correcta.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10. Trabaje siempre con casos imaginarios.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10 · 1 hora. Diga cada palabra despacio y pida un ejemplo del grupo. NO pida cifras personales de nadie.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Escríbalo en el tablero renglón por renglón, al mismo tiempo. El valor del tiempo es lo que siempre se olvida: insista ahí.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Pregunte al grupo cuántos habrían puesto un precio menor a 11.000. Ahí cae la idea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sola idea. Léala y deje un silencio de cinco segundos antes de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tres cajas. No use las palabras ingresos ni egresos aquí: entró, salió y quedó bastan.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10 · 40 min. De a dos: quien ya sabe ayuda a quien no. Pasen por las mesas. Es un cálculo de su propio producto, no una cifra personal ni bancaria.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10. Enlaza con el ejercicio de necesidad o gusto de la mañana.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11 · 50 min. Caso imaginario, fichas de papel. Cada grupo explica por qué repartió así. No hay una única respuesta correcta.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12 · 20 min. Actividad breve, adaptada y voluntaria.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13 · 30 min. Cierre en autoestima, no en evaluación. Recoja la caja de preguntas anónimas antes de despedir.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Trabajo en casa · 2 horas. No debe publicar información personal ni usar dinero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Sesión 6: primera práctica. Deje escritos día, hora y lugar también en el tablero.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27432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154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MEDELLÍN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100584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154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 QUIERE</a:t>
            </a:r>
            <a:endParaRPr lang="en-US" sz="5800" dirty="0"/>
          </a:p>
        </p:txBody>
      </p:sp>
      <p:sp>
        <p:nvSpPr>
          <p:cNvPr id="7" name="Shape 5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15455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5760" y="2834640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 VA UNA FOTO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7BA7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GRUPO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977640" y="2011680"/>
            <a:ext cx="566928" cy="292608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0" name="Shape 8"/>
          <p:cNvSpPr/>
          <p:nvPr/>
        </p:nvSpPr>
        <p:spPr>
          <a:xfrm>
            <a:off x="4544568" y="2011680"/>
            <a:ext cx="7086600" cy="292608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937760" y="2212848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5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2697480"/>
            <a:ext cx="64008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TELÉFONO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EL DINERO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43434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Artes y Oficios  ·  Personas Mayores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544568" y="6035040"/>
            <a:ext cx="7086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BD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6858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006754"/>
            <a:ext cx="546811" cy="54681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57400" y="685800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vamos a hacer hoy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566928" y="2148840"/>
            <a:ext cx="3502152" cy="1965960"/>
          </a:xfrm>
          <a:prstGeom prst="rect">
            <a:avLst/>
          </a:prstGeom>
          <a:solidFill>
            <a:srgbClr val="E7EEF3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2148840"/>
            <a:ext cx="3502152" cy="100584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" y="23500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MAÑANA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275234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conocemos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35584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2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qué usamos el teléfono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4343400" y="2148840"/>
            <a:ext cx="3502152" cy="1965960"/>
          </a:xfrm>
          <a:prstGeom prst="rect">
            <a:avLst/>
          </a:prstGeom>
          <a:solidFill>
            <a:srgbClr val="E7EEF3"/>
          </a:solidFill>
          <a:ln/>
        </p:spPr>
      </p:sp>
      <p:sp>
        <p:nvSpPr>
          <p:cNvPr id="15" name="Shape 12"/>
          <p:cNvSpPr/>
          <p:nvPr/>
        </p:nvSpPr>
        <p:spPr>
          <a:xfrm>
            <a:off x="4343400" y="2148840"/>
            <a:ext cx="3502152" cy="100584"/>
          </a:xfrm>
          <a:prstGeom prst="rect">
            <a:avLst/>
          </a:prstGeom>
          <a:solidFill>
            <a:srgbClr val="0E3A5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99432" y="23500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MAÑANA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599432" y="275234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avisar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4599432" y="335584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2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cómo cuidarnos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8119872" y="2148840"/>
            <a:ext cx="3502152" cy="1965960"/>
          </a:xfrm>
          <a:prstGeom prst="rect">
            <a:avLst/>
          </a:prstGeom>
          <a:solidFill>
            <a:srgbClr val="E7EEF3"/>
          </a:solidFill>
          <a:ln/>
        </p:spPr>
      </p:sp>
      <p:sp>
        <p:nvSpPr>
          <p:cNvPr id="20" name="Shape 17"/>
          <p:cNvSpPr/>
          <p:nvPr/>
        </p:nvSpPr>
        <p:spPr>
          <a:xfrm>
            <a:off x="8119872" y="2148840"/>
            <a:ext cx="3502152" cy="100584"/>
          </a:xfrm>
          <a:prstGeom prst="rect">
            <a:avLst/>
          </a:prstGeom>
          <a:solidFill>
            <a:srgbClr val="0E3A54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375904" y="23500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MAÑANA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375904" y="275234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</a:t>
            </a:r>
            <a:endParaRPr lang="en-US" sz="2800" dirty="0"/>
          </a:p>
        </p:txBody>
      </p:sp>
      <p:sp>
        <p:nvSpPr>
          <p:cNvPr id="23" name="Text 20"/>
          <p:cNvSpPr txBox="1"/>
          <p:nvPr/>
        </p:nvSpPr>
        <p:spPr>
          <a:xfrm>
            <a:off x="8375904" y="335584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2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foto de mi producto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566928" y="4251960"/>
            <a:ext cx="3502152" cy="1965960"/>
          </a:xfrm>
          <a:prstGeom prst="rect">
            <a:avLst/>
          </a:prstGeom>
          <a:solidFill>
            <a:srgbClr val="E7EEF3"/>
          </a:solidFill>
          <a:ln/>
        </p:spPr>
      </p:sp>
      <p:sp>
        <p:nvSpPr>
          <p:cNvPr id="25" name="Shape 22"/>
          <p:cNvSpPr/>
          <p:nvPr/>
        </p:nvSpPr>
        <p:spPr>
          <a:xfrm>
            <a:off x="566928" y="4251960"/>
            <a:ext cx="3502152" cy="100584"/>
          </a:xfrm>
          <a:prstGeom prst="rect">
            <a:avLst/>
          </a:prstGeom>
          <a:solidFill>
            <a:srgbClr val="5A6B77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2960" y="44531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MEDIODÍA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485546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Almuerzo</a:t>
            </a:r>
            <a:endParaRPr lang="en-US" sz="280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545896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2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Descanso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4343400" y="4251960"/>
            <a:ext cx="3502152" cy="1965960"/>
          </a:xfrm>
          <a:prstGeom prst="rect">
            <a:avLst/>
          </a:prstGeom>
          <a:solidFill>
            <a:srgbClr val="E7EEF3"/>
          </a:solidFill>
          <a:ln/>
        </p:spPr>
      </p:sp>
      <p:sp>
        <p:nvSpPr>
          <p:cNvPr id="30" name="Shape 27"/>
          <p:cNvSpPr/>
          <p:nvPr/>
        </p:nvSpPr>
        <p:spPr>
          <a:xfrm>
            <a:off x="4343400" y="4251960"/>
            <a:ext cx="3502152" cy="100584"/>
          </a:xfrm>
          <a:prstGeom prst="rect">
            <a:avLst/>
          </a:prstGeom>
          <a:solidFill>
            <a:srgbClr val="0E3A5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599432" y="44531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TARDE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4599432" y="485546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dinero</a:t>
            </a:r>
            <a:endParaRPr lang="en-US" sz="2800" dirty="0"/>
          </a:p>
        </p:txBody>
      </p:sp>
      <p:sp>
        <p:nvSpPr>
          <p:cNvPr id="33" name="Text 30"/>
          <p:cNvSpPr txBox="1"/>
          <p:nvPr/>
        </p:nvSpPr>
        <p:spPr>
          <a:xfrm>
            <a:off x="4599432" y="545896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2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entra y lo que sale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8119872" y="4251960"/>
            <a:ext cx="3502152" cy="1965960"/>
          </a:xfrm>
          <a:prstGeom prst="rect">
            <a:avLst/>
          </a:prstGeom>
          <a:solidFill>
            <a:srgbClr val="E7EEF3"/>
          </a:solidFill>
          <a:ln/>
        </p:spPr>
      </p:sp>
      <p:sp>
        <p:nvSpPr>
          <p:cNvPr id="35" name="Shape 32"/>
          <p:cNvSpPr/>
          <p:nvPr/>
        </p:nvSpPr>
        <p:spPr>
          <a:xfrm>
            <a:off x="8119872" y="4251960"/>
            <a:ext cx="3502152" cy="100584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8375904" y="44531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TARDE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8375904" y="485546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</a:t>
            </a:r>
            <a:endParaRPr lang="en-US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8375904" y="5458968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2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me llevo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9F0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11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C6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EMPEZAR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646920" y="1143000"/>
            <a:ext cx="1920240" cy="192024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5385" y="1661465"/>
            <a:ext cx="883310" cy="88331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58368" y="109728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664"/>
              </a:lnSpc>
              <a:buNone/>
            </a:pPr>
            <a:r>
              <a:rPr lang="en-US" sz="4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¿Para qué usa usted</a:t>
            </a:r>
            <a:endParaRPr lang="en-US" sz="4800" dirty="0"/>
          </a:p>
          <a:p>
            <a:pPr indent="0" marL="0">
              <a:lnSpc>
                <a:spcPts val="5664"/>
              </a:lnSpc>
              <a:buNone/>
            </a:pPr>
            <a:r>
              <a:rPr lang="en-US" sz="4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teléfono?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291840"/>
            <a:ext cx="10424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anotando en el tablero todo lo que salga.</a:t>
            </a:r>
            <a:endParaRPr lang="en-US" sz="30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También vale el cartel, la llamada y el voz a voz.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9F0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11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C6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CONVERSEMOS EN GRUPOS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646920" y="1143000"/>
            <a:ext cx="1920240" cy="192024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5385" y="1661465"/>
            <a:ext cx="883310" cy="88331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58368" y="109728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664"/>
              </a:lnSpc>
              <a:buNone/>
            </a:pPr>
            <a:r>
              <a:rPr lang="en-US" sz="4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se enteró</a:t>
            </a:r>
            <a:endParaRPr lang="en-US" sz="4800" dirty="0"/>
          </a:p>
          <a:p>
            <a:pPr indent="0" marL="0">
              <a:lnSpc>
                <a:spcPts val="5664"/>
              </a:lnSpc>
              <a:buNone/>
            </a:pPr>
            <a:r>
              <a:rPr lang="en-US" sz="4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gente?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291840"/>
            <a:ext cx="10424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Piense en algo que usted vendió, prestó o regaló.</a:t>
            </a:r>
            <a:endParaRPr lang="en-US" sz="30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supo la gente que usted lo tenía?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2148840"/>
            <a:ext cx="731520" cy="251460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34440" y="21488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3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1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43200"/>
            <a:ext cx="8412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aviso</a:t>
            </a:r>
            <a:endParaRPr lang="en-US" sz="5600" dirty="0"/>
          </a:p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hago</a:t>
            </a:r>
            <a:endParaRPr lang="en-US" sz="5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80060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llamada · El WhatsApp · La foto · El cartel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9921240" y="2286000"/>
            <a:ext cx="1737360" cy="173736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327" y="2755087"/>
            <a:ext cx="799186" cy="79918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6858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006754"/>
            <a:ext cx="546811" cy="54681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57400" y="685800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 muchas formas de avisar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1078992" y="2514600"/>
            <a:ext cx="1188720" cy="118872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946" y="2835554"/>
            <a:ext cx="546811" cy="54681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21792" y="3977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llamada</a:t>
            </a:r>
            <a:endParaRPr lang="en-US" sz="2600" dirty="0"/>
          </a:p>
        </p:txBody>
      </p:sp>
      <p:sp>
        <p:nvSpPr>
          <p:cNvPr id="12" name="Shape 8"/>
          <p:cNvSpPr/>
          <p:nvPr/>
        </p:nvSpPr>
        <p:spPr>
          <a:xfrm>
            <a:off x="3291840" y="25146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2794" y="2835554"/>
            <a:ext cx="546811" cy="54681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34640" y="3977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WhatsApp</a:t>
            </a:r>
            <a:endParaRPr lang="en-US" sz="2600" dirty="0"/>
          </a:p>
        </p:txBody>
      </p:sp>
      <p:sp>
        <p:nvSpPr>
          <p:cNvPr id="15" name="Shape 10"/>
          <p:cNvSpPr/>
          <p:nvPr/>
        </p:nvSpPr>
        <p:spPr>
          <a:xfrm>
            <a:off x="5504688" y="2514600"/>
            <a:ext cx="1188720" cy="118872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5642" y="2835554"/>
            <a:ext cx="546811" cy="546811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047488" y="3977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foto</a:t>
            </a:r>
            <a:endParaRPr lang="en-US" sz="2600" dirty="0"/>
          </a:p>
        </p:txBody>
      </p:sp>
      <p:sp>
        <p:nvSpPr>
          <p:cNvPr id="18" name="Shape 12"/>
          <p:cNvSpPr/>
          <p:nvPr/>
        </p:nvSpPr>
        <p:spPr>
          <a:xfrm>
            <a:off x="7717536" y="25146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8490" y="2835554"/>
            <a:ext cx="546811" cy="546811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260336" y="3977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cartel</a:t>
            </a:r>
            <a:endParaRPr lang="en-US" sz="2600" dirty="0"/>
          </a:p>
        </p:txBody>
      </p:sp>
      <p:sp>
        <p:nvSpPr>
          <p:cNvPr id="21" name="Shape 14"/>
          <p:cNvSpPr/>
          <p:nvPr/>
        </p:nvSpPr>
        <p:spPr>
          <a:xfrm>
            <a:off x="9930384" y="2514600"/>
            <a:ext cx="1188720" cy="118872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1338" y="2835554"/>
            <a:ext cx="546811" cy="546811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9473184" y="3977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voz a voz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8404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 1 DE 4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646920" y="1965960"/>
            <a:ext cx="2011680" cy="201168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0074" y="2509114"/>
            <a:ext cx="925373" cy="92537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1417320"/>
            <a:ext cx="8686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9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dé su clave</a:t>
            </a:r>
            <a:endParaRPr lang="en-US" sz="60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16052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por teléfono. Ni por mensaje. A nadie.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banco nunca le pide la clave.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8404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 2 DE 4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646920" y="1965960"/>
            <a:ext cx="2011680" cy="201168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0074" y="2509114"/>
            <a:ext cx="925373" cy="92537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1417320"/>
            <a:ext cx="8686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21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abra enlaces</a:t>
            </a:r>
            <a:endParaRPr lang="en-US" sz="5400" dirty="0"/>
          </a:p>
          <a:p>
            <a:pPr indent="0" marL="0">
              <a:lnSpc>
                <a:spcPts val="621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raros</a:t>
            </a:r>
            <a:endParaRPr lang="en-US" sz="5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16052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no sabe quién lo mandó, no lo abra.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tiene duda, pregúntele a alguien de confianza.</a:t>
            </a:r>
            <a:endParaRPr lang="en-US" sz="3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8404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 3 DE 4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646920" y="1965960"/>
            <a:ext cx="2011680" cy="201168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0074" y="2509114"/>
            <a:ext cx="925373" cy="92537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1417320"/>
            <a:ext cx="8686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98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Pida permiso</a:t>
            </a:r>
            <a:endParaRPr lang="en-US" sz="5200" dirty="0"/>
          </a:p>
          <a:p>
            <a:pPr indent="0" marL="0">
              <a:lnSpc>
                <a:spcPts val="598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la foto</a:t>
            </a:r>
            <a:endParaRPr lang="en-US" sz="5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16052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tomarle una foto a alguien, pregúntele.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antes de publicarla, también.</a:t>
            </a:r>
            <a:endParaRPr lang="en-US" sz="3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8404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 4 DE 4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646920" y="1965960"/>
            <a:ext cx="2011680" cy="201168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0074" y="2509114"/>
            <a:ext cx="925373" cy="92537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1417320"/>
            <a:ext cx="8686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21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lo apuran,</a:t>
            </a:r>
            <a:endParaRPr lang="en-US" sz="5400" dirty="0"/>
          </a:p>
          <a:p>
            <a:pPr indent="0" marL="0">
              <a:lnSpc>
                <a:spcPts val="621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desconfíe</a:t>
            </a:r>
            <a:endParaRPr lang="en-US" sz="5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16052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serio le pide plata de afán.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 por un número que usted ya conozca.</a:t>
            </a:r>
            <a:endParaRPr lang="en-US" sz="3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8404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DESCANSO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601200" y="2240280"/>
            <a:ext cx="2011680" cy="201168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4354" y="2783434"/>
            <a:ext cx="925373" cy="92537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1783080"/>
            <a:ext cx="8595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Refrigerio</a:t>
            </a:r>
            <a:endParaRPr lang="en-US" sz="60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54680"/>
            <a:ext cx="8595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minutos</a:t>
            </a:r>
            <a:endParaRPr lang="en-US" sz="4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6858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006754"/>
            <a:ext cx="546811" cy="54681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57400" y="685800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Así se ve bien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566928" y="2103120"/>
            <a:ext cx="3502152" cy="3566160"/>
          </a:xfrm>
          <a:prstGeom prst="rect">
            <a:avLst/>
          </a:prstGeom>
          <a:solidFill>
            <a:srgbClr val="E7EEF3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2103120"/>
            <a:ext cx="3502152" cy="100584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11" name="Shape 8"/>
          <p:cNvSpPr/>
          <p:nvPr/>
        </p:nvSpPr>
        <p:spPr>
          <a:xfrm>
            <a:off x="1700784" y="2395728"/>
            <a:ext cx="1234440" cy="123444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083" y="2729027"/>
            <a:ext cx="567842" cy="567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95528" y="3657600"/>
            <a:ext cx="30449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Con luz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795528" y="4315968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lado de</a:t>
            </a:r>
            <a:endParaRPr lang="en-US" sz="2300" dirty="0"/>
          </a:p>
          <a:p>
            <a:pPr algn="ctr"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ventana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343400" y="2103120"/>
            <a:ext cx="3502152" cy="3566160"/>
          </a:xfrm>
          <a:prstGeom prst="rect">
            <a:avLst/>
          </a:prstGeom>
          <a:solidFill>
            <a:srgbClr val="E7EEF3"/>
          </a:solidFill>
          <a:ln/>
        </p:spPr>
      </p:sp>
      <p:sp>
        <p:nvSpPr>
          <p:cNvPr id="16" name="Shape 12"/>
          <p:cNvSpPr/>
          <p:nvPr/>
        </p:nvSpPr>
        <p:spPr>
          <a:xfrm>
            <a:off x="4343400" y="2103120"/>
            <a:ext cx="3502152" cy="100584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17" name="Shape 13"/>
          <p:cNvSpPr/>
          <p:nvPr/>
        </p:nvSpPr>
        <p:spPr>
          <a:xfrm>
            <a:off x="5477256" y="2395728"/>
            <a:ext cx="1234440" cy="123444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555" y="2729027"/>
            <a:ext cx="567842" cy="56784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572000" y="3657600"/>
            <a:ext cx="30449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Sin desorden</a:t>
            </a:r>
            <a:endParaRPr lang="en-US" sz="28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0" y="4315968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tela o una</a:t>
            </a:r>
            <a:endParaRPr lang="en-US" sz="2300" dirty="0"/>
          </a:p>
          <a:p>
            <a:pPr algn="ctr"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pared limpia</a:t>
            </a:r>
            <a:endParaRPr lang="en-US" sz="2300" dirty="0"/>
          </a:p>
        </p:txBody>
      </p:sp>
      <p:sp>
        <p:nvSpPr>
          <p:cNvPr id="21" name="Shape 16"/>
          <p:cNvSpPr/>
          <p:nvPr/>
        </p:nvSpPr>
        <p:spPr>
          <a:xfrm>
            <a:off x="8119872" y="2103120"/>
            <a:ext cx="3502152" cy="3566160"/>
          </a:xfrm>
          <a:prstGeom prst="rect">
            <a:avLst/>
          </a:prstGeom>
          <a:solidFill>
            <a:srgbClr val="E7EEF3"/>
          </a:solidFill>
          <a:ln/>
        </p:spPr>
      </p:sp>
      <p:sp>
        <p:nvSpPr>
          <p:cNvPr id="22" name="Shape 17"/>
          <p:cNvSpPr/>
          <p:nvPr/>
        </p:nvSpPr>
        <p:spPr>
          <a:xfrm>
            <a:off x="8119872" y="2103120"/>
            <a:ext cx="3502152" cy="100584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23" name="Shape 18"/>
          <p:cNvSpPr/>
          <p:nvPr/>
        </p:nvSpPr>
        <p:spPr>
          <a:xfrm>
            <a:off x="9253728" y="2395728"/>
            <a:ext cx="1234440" cy="123444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7027" y="2729027"/>
            <a:ext cx="567842" cy="56784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348472" y="3657600"/>
            <a:ext cx="30449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De cerquita</a:t>
            </a:r>
            <a:endParaRPr lang="en-US" sz="2800" dirty="0"/>
          </a:p>
        </p:txBody>
      </p:sp>
      <p:sp>
        <p:nvSpPr>
          <p:cNvPr id="26" name="Text 20"/>
          <p:cNvSpPr txBox="1"/>
          <p:nvPr/>
        </p:nvSpPr>
        <p:spPr>
          <a:xfrm>
            <a:off x="8348472" y="4315968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se vea</a:t>
            </a:r>
            <a:endParaRPr lang="en-US" sz="2300" dirty="0"/>
          </a:p>
          <a:p>
            <a:pPr algn="ctr"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 grande</a:t>
            </a:r>
            <a:endParaRPr lang="en-US" sz="2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9F0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11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C6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AHORA USTED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646920" y="1143000"/>
            <a:ext cx="1920240" cy="192024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5385" y="1661465"/>
            <a:ext cx="883310" cy="88331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58368" y="109728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Tómele una foto a</a:t>
            </a:r>
            <a:endParaRPr lang="en-US" sz="4400" dirty="0"/>
          </a:p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usted hace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291840"/>
            <a:ext cx="10424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no tiene teléfono, dibújelo en una hoja.</a:t>
            </a:r>
            <a:endParaRPr lang="en-US" sz="30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formas valen igual.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566928" y="5349240"/>
            <a:ext cx="11064240" cy="868680"/>
          </a:xfrm>
          <a:prstGeom prst="rect">
            <a:avLst/>
          </a:prstGeom>
          <a:solidFill>
            <a:srgbClr val="FDEBE1"/>
          </a:solidFill>
          <a:ln/>
        </p:spPr>
      </p:sp>
      <p:sp>
        <p:nvSpPr>
          <p:cNvPr id="13" name="Shape 10"/>
          <p:cNvSpPr/>
          <p:nvPr/>
        </p:nvSpPr>
        <p:spPr>
          <a:xfrm>
            <a:off x="566928" y="5349240"/>
            <a:ext cx="128016" cy="86868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14400" y="53492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4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   Anexe aquí una foto de una pieza de la técnica del grupo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8404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ESTIRAMOS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601200" y="2240280"/>
            <a:ext cx="2011680" cy="201168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4354" y="2783434"/>
            <a:ext cx="925373" cy="92537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1783080"/>
            <a:ext cx="8595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 activa</a:t>
            </a:r>
            <a:endParaRPr lang="en-US" sz="60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54680"/>
            <a:ext cx="8595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minutos</a:t>
            </a:r>
            <a:endParaRPr lang="en-US" sz="4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4206240"/>
            <a:ext cx="9601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28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Movemos hombros, manos y tobillos.</a:t>
            </a:r>
            <a:endParaRPr lang="en-US" sz="2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28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Sentados o de pie, como cada quien pueda.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6858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006754"/>
            <a:ext cx="546811" cy="54681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57400" y="685800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aviso lleva cuatro cosas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1241298" y="2514600"/>
            <a:ext cx="1417320" cy="141732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3974" y="2897276"/>
            <a:ext cx="651967" cy="65196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21792" y="4206240"/>
            <a:ext cx="26563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nombre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621792" y="4892040"/>
            <a:ext cx="26563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llama</a:t>
            </a:r>
            <a:endParaRPr lang="en-US" sz="2400" dirty="0"/>
          </a:p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hace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4007358" y="2514600"/>
            <a:ext cx="1417320" cy="14173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0034" y="2897276"/>
            <a:ext cx="651967" cy="65196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387852" y="4206240"/>
            <a:ext cx="26563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</a:t>
            </a:r>
            <a:endParaRPr lang="en-US" sz="3200" dirty="0"/>
          </a:p>
        </p:txBody>
      </p:sp>
      <p:sp>
        <p:nvSpPr>
          <p:cNvPr id="16" name="Text 11"/>
          <p:cNvSpPr txBox="1"/>
          <p:nvPr/>
        </p:nvSpPr>
        <p:spPr>
          <a:xfrm>
            <a:off x="3387852" y="4892040"/>
            <a:ext cx="26563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qué</a:t>
            </a:r>
            <a:endParaRPr lang="en-US" sz="2400" dirty="0"/>
          </a:p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sirve</a:t>
            </a:r>
            <a:endParaRPr lang="en-US" sz="2400" dirty="0"/>
          </a:p>
        </p:txBody>
      </p:sp>
      <p:sp>
        <p:nvSpPr>
          <p:cNvPr id="17" name="Shape 12"/>
          <p:cNvSpPr/>
          <p:nvPr/>
        </p:nvSpPr>
        <p:spPr>
          <a:xfrm>
            <a:off x="6773418" y="2514600"/>
            <a:ext cx="1417320" cy="141732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6094" y="2897276"/>
            <a:ext cx="651967" cy="65196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153912" y="4206240"/>
            <a:ext cx="26563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Cuánto vale</a:t>
            </a:r>
            <a:endParaRPr lang="en-US" sz="3200" dirty="0"/>
          </a:p>
        </p:txBody>
      </p:sp>
      <p:sp>
        <p:nvSpPr>
          <p:cNvPr id="20" name="Text 14"/>
          <p:cNvSpPr txBox="1"/>
          <p:nvPr/>
        </p:nvSpPr>
        <p:spPr>
          <a:xfrm>
            <a:off x="6153912" y="4892040"/>
            <a:ext cx="26563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precio,</a:t>
            </a:r>
            <a:endParaRPr lang="en-US" sz="2400" dirty="0"/>
          </a:p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siempre</a:t>
            </a:r>
            <a:endParaRPr lang="en-US" sz="2400" dirty="0"/>
          </a:p>
        </p:txBody>
      </p:sp>
      <p:sp>
        <p:nvSpPr>
          <p:cNvPr id="21" name="Shape 15"/>
          <p:cNvSpPr/>
          <p:nvPr/>
        </p:nvSpPr>
        <p:spPr>
          <a:xfrm>
            <a:off x="9539478" y="2514600"/>
            <a:ext cx="1417320" cy="14173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2154" y="2897276"/>
            <a:ext cx="651967" cy="65196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919972" y="4206240"/>
            <a:ext cx="26563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pedirlo</a:t>
            </a:r>
            <a:endParaRPr lang="en-US" sz="3200" dirty="0"/>
          </a:p>
        </p:txBody>
      </p:sp>
      <p:sp>
        <p:nvSpPr>
          <p:cNvPr id="24" name="Text 17"/>
          <p:cNvSpPr txBox="1"/>
          <p:nvPr/>
        </p:nvSpPr>
        <p:spPr>
          <a:xfrm>
            <a:off x="8919972" y="4892040"/>
            <a:ext cx="26563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lo</a:t>
            </a:r>
            <a:endParaRPr lang="en-US" sz="2400" dirty="0"/>
          </a:p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buscan a usted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6858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006754"/>
            <a:ext cx="546811" cy="54681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57400" y="685800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aviso armado se ve así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566928" y="2103120"/>
            <a:ext cx="7680960" cy="3063240"/>
          </a:xfrm>
          <a:prstGeom prst="rect">
            <a:avLst/>
          </a:prstGeom>
          <a:solidFill>
            <a:srgbClr val="E7EEF3"/>
          </a:solidFill>
          <a:ln/>
        </p:spPr>
      </p:sp>
      <p:sp>
        <p:nvSpPr>
          <p:cNvPr id="10" name="Shape 7"/>
          <p:cNvSpPr/>
          <p:nvPr/>
        </p:nvSpPr>
        <p:spPr>
          <a:xfrm>
            <a:off x="566928" y="2103120"/>
            <a:ext cx="128016" cy="306324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05840" y="2286000"/>
            <a:ext cx="704088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Velas de cera con olor a limón.</a:t>
            </a: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Duran 6 horas prendidas.</a:t>
            </a: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$ 16.500 cada una.</a:t>
            </a: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 va mi contacto.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8595360" y="2331720"/>
            <a:ext cx="384048" cy="38404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144000" y="225856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nombre</a:t>
            </a:r>
            <a:endParaRPr lang="en-US" sz="2300" dirty="0"/>
          </a:p>
        </p:txBody>
      </p:sp>
      <p:sp>
        <p:nvSpPr>
          <p:cNvPr id="14" name="Shape 11"/>
          <p:cNvSpPr/>
          <p:nvPr/>
        </p:nvSpPr>
        <p:spPr>
          <a:xfrm>
            <a:off x="8595360" y="3063240"/>
            <a:ext cx="384048" cy="38404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0" y="299008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</a:t>
            </a:r>
            <a:endParaRPr lang="en-US" sz="2300" dirty="0"/>
          </a:p>
        </p:txBody>
      </p:sp>
      <p:sp>
        <p:nvSpPr>
          <p:cNvPr id="16" name="Shape 13"/>
          <p:cNvSpPr/>
          <p:nvPr/>
        </p:nvSpPr>
        <p:spPr>
          <a:xfrm>
            <a:off x="8595360" y="3977640"/>
            <a:ext cx="384048" cy="38404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144000" y="390448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Cuánto vale</a:t>
            </a:r>
            <a:endParaRPr lang="en-US" sz="2300" dirty="0"/>
          </a:p>
        </p:txBody>
      </p:sp>
      <p:sp>
        <p:nvSpPr>
          <p:cNvPr id="18" name="Shape 15"/>
          <p:cNvSpPr/>
          <p:nvPr/>
        </p:nvSpPr>
        <p:spPr>
          <a:xfrm>
            <a:off x="8595360" y="4617720"/>
            <a:ext cx="384048" cy="38404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144000" y="454456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pedirlo</a:t>
            </a:r>
            <a:endParaRPr lang="en-US" sz="230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5440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84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escriba su teléfono ni su dirección en la pantalla del salón.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9F0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11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C6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PAREJAS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646920" y="1143000"/>
            <a:ext cx="1920240" cy="192024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5385" y="1661465"/>
            <a:ext cx="883310" cy="88331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58368" y="109728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428"/>
              </a:lnSpc>
              <a:buNone/>
            </a:pPr>
            <a:r>
              <a:rPr lang="en-US" sz="4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Arme el aviso</a:t>
            </a:r>
            <a:endParaRPr lang="en-US" sz="4600" dirty="0"/>
          </a:p>
          <a:p>
            <a:pPr indent="0" marL="0">
              <a:lnSpc>
                <a:spcPts val="5428"/>
              </a:lnSpc>
              <a:buNone/>
            </a:pPr>
            <a:r>
              <a:rPr lang="en-US" sz="4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su producto</a:t>
            </a:r>
            <a:endParaRPr lang="en-US" sz="46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291840"/>
            <a:ext cx="10424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el del compañero. Después el suyo.</a:t>
            </a:r>
            <a:endParaRPr lang="en-US" sz="30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ninguno escribe, lo dictan y el auxiliar escribe.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566928" y="5349240"/>
            <a:ext cx="11064240" cy="868680"/>
          </a:xfrm>
          <a:prstGeom prst="rect">
            <a:avLst/>
          </a:prstGeom>
          <a:solidFill>
            <a:srgbClr val="FDEBE1"/>
          </a:solidFill>
          <a:ln/>
        </p:spPr>
      </p:sp>
      <p:sp>
        <p:nvSpPr>
          <p:cNvPr id="13" name="Shape 10"/>
          <p:cNvSpPr/>
          <p:nvPr/>
        </p:nvSpPr>
        <p:spPr>
          <a:xfrm>
            <a:off x="566928" y="5349240"/>
            <a:ext cx="128016" cy="86868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14400" y="53492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4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   Anexe aquí un aviso de ejemplo con la técnica del grupo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8404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ALMUERZO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601200" y="2240280"/>
            <a:ext cx="2011680" cy="201168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4354" y="2783434"/>
            <a:ext cx="925373" cy="92537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1783080"/>
            <a:ext cx="8595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Almuerzo</a:t>
            </a:r>
            <a:endParaRPr lang="en-US" sz="60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54680"/>
            <a:ext cx="8595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Volvemos en 1 hora</a:t>
            </a:r>
            <a:endParaRPr lang="en-US" sz="4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4206240"/>
            <a:ext cx="9601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28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Escriba en el tablero la hora exacta de regreso.</a:t>
            </a:r>
            <a:endParaRPr lang="en-US" sz="2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9F0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11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C6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DESPUÉS DEL ALMUERZO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646920" y="1143000"/>
            <a:ext cx="1920240" cy="192024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5385" y="1661465"/>
            <a:ext cx="883310" cy="88331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58368" y="109728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664"/>
              </a:lnSpc>
              <a:buNone/>
            </a:pPr>
            <a:r>
              <a:rPr lang="en-US" sz="4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¿Necesidad o gusto?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291840"/>
            <a:ext cx="10424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32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 arriba  →  es necesidad.</a:t>
            </a:r>
            <a:endParaRPr lang="en-US" sz="3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2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 abajo  →  es gusto.</a:t>
            </a:r>
            <a:endParaRPr lang="en-US" sz="3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2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 plana  →  depende.</a:t>
            </a:r>
            <a:endParaRPr lang="en-US" sz="3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2148840"/>
            <a:ext cx="731520" cy="251460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34440" y="21488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spc="3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43200"/>
            <a:ext cx="8412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dinero de</a:t>
            </a:r>
            <a:endParaRPr lang="en-US" sz="5600" dirty="0"/>
          </a:p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 negocio</a:t>
            </a:r>
            <a:endParaRPr lang="en-US" sz="5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800600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entra · Lo que sale · Lo que queda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9921240" y="2286000"/>
            <a:ext cx="1737360" cy="173736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327" y="2755087"/>
            <a:ext cx="799186" cy="79918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6858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006754"/>
            <a:ext cx="546811" cy="54681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57400" y="685800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palabras del dinero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1241298" y="2514600"/>
            <a:ext cx="1417320" cy="141732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3974" y="2897276"/>
            <a:ext cx="651967" cy="65196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21792" y="4206240"/>
            <a:ext cx="26563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621792" y="4892040"/>
            <a:ext cx="26563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le</a:t>
            </a:r>
            <a:endParaRPr lang="en-US" sz="2400" dirty="0"/>
          </a:p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pagan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4007358" y="2514600"/>
            <a:ext cx="1417320" cy="14173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0034" y="2897276"/>
            <a:ext cx="651967" cy="65196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387852" y="4206240"/>
            <a:ext cx="26563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</a:t>
            </a:r>
            <a:endParaRPr lang="en-US" sz="3200" dirty="0"/>
          </a:p>
        </p:txBody>
      </p:sp>
      <p:sp>
        <p:nvSpPr>
          <p:cNvPr id="16" name="Text 11"/>
          <p:cNvSpPr txBox="1"/>
          <p:nvPr/>
        </p:nvSpPr>
        <p:spPr>
          <a:xfrm>
            <a:off x="3387852" y="4892040"/>
            <a:ext cx="26563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gastó</a:t>
            </a:r>
            <a:endParaRPr lang="en-US" sz="2400" dirty="0"/>
          </a:p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hacerlo</a:t>
            </a:r>
            <a:endParaRPr lang="en-US" sz="2400" dirty="0"/>
          </a:p>
        </p:txBody>
      </p:sp>
      <p:sp>
        <p:nvSpPr>
          <p:cNvPr id="17" name="Shape 12"/>
          <p:cNvSpPr/>
          <p:nvPr/>
        </p:nvSpPr>
        <p:spPr>
          <a:xfrm>
            <a:off x="6773418" y="2514600"/>
            <a:ext cx="1417320" cy="141732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6094" y="2897276"/>
            <a:ext cx="651967" cy="65196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153912" y="4206240"/>
            <a:ext cx="26563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GASTO</a:t>
            </a:r>
            <a:endParaRPr lang="en-US" sz="3200" dirty="0"/>
          </a:p>
        </p:txBody>
      </p:sp>
      <p:sp>
        <p:nvSpPr>
          <p:cNvPr id="20" name="Text 14"/>
          <p:cNvSpPr txBox="1"/>
          <p:nvPr/>
        </p:nvSpPr>
        <p:spPr>
          <a:xfrm>
            <a:off x="6153912" y="4892040"/>
            <a:ext cx="26563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Pasajes,</a:t>
            </a:r>
            <a:endParaRPr lang="en-US" sz="2400" dirty="0"/>
          </a:p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bolsas</a:t>
            </a:r>
            <a:endParaRPr lang="en-US" sz="2400" dirty="0"/>
          </a:p>
        </p:txBody>
      </p:sp>
      <p:sp>
        <p:nvSpPr>
          <p:cNvPr id="21" name="Shape 15"/>
          <p:cNvSpPr/>
          <p:nvPr/>
        </p:nvSpPr>
        <p:spPr>
          <a:xfrm>
            <a:off x="9539478" y="2514600"/>
            <a:ext cx="1417320" cy="14173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2154" y="2897276"/>
            <a:ext cx="651967" cy="65196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919972" y="4206240"/>
            <a:ext cx="26563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AHORRO</a:t>
            </a:r>
            <a:endParaRPr lang="en-US" sz="3200" dirty="0"/>
          </a:p>
        </p:txBody>
      </p:sp>
      <p:sp>
        <p:nvSpPr>
          <p:cNvPr id="24" name="Text 17"/>
          <p:cNvSpPr txBox="1"/>
          <p:nvPr/>
        </p:nvSpPr>
        <p:spPr>
          <a:xfrm>
            <a:off x="8919972" y="4892040"/>
            <a:ext cx="26563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guarda</a:t>
            </a:r>
            <a:endParaRPr lang="en-US" sz="2400" dirty="0"/>
          </a:p>
          <a:p>
            <a:pPr algn="ctr" indent="0" marL="0">
              <a:lnSpc>
                <a:spcPts val="3200"/>
              </a:lnSpc>
              <a:buNone/>
            </a:pPr>
            <a:r>
              <a:rPr lang="en-US" sz="24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después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6858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006754"/>
            <a:ext cx="546811" cy="54681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57400" y="685800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Cuánto cuesta hacer UNA vela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103120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Cera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210312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 3.000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761488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Pabilo y esencia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2761488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 1.000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3419856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Vaso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341985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 2.000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1005840" y="4187952"/>
            <a:ext cx="10149840" cy="36576"/>
          </a:xfrm>
          <a:prstGeom prst="rect">
            <a:avLst/>
          </a:prstGeom>
          <a:solidFill>
            <a:srgbClr val="B6C6D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05840" y="4242816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 tiempo  (1 hora)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424281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B84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 5.000</a:t>
            </a:r>
            <a:endParaRPr lang="en-US" sz="3000" dirty="0"/>
          </a:p>
        </p:txBody>
      </p:sp>
      <p:sp>
        <p:nvSpPr>
          <p:cNvPr id="18" name="Shape 15"/>
          <p:cNvSpPr/>
          <p:nvPr/>
        </p:nvSpPr>
        <p:spPr>
          <a:xfrm>
            <a:off x="1005840" y="5010912"/>
            <a:ext cx="10149840" cy="841248"/>
          </a:xfrm>
          <a:prstGeom prst="rect">
            <a:avLst/>
          </a:prstGeom>
          <a:solidFill>
            <a:srgbClr val="0E3A5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05840" y="5056632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ME CUESTA</a:t>
            </a:r>
            <a:endParaRPr lang="en-US" sz="320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5056632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$ 11.000   </a:t>
            </a:r>
            <a:endParaRPr lang="en-US" sz="320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59436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4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   Cambie la vela por la técnica del grupo y sus precios reales.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6858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006754"/>
            <a:ext cx="546811" cy="54681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57400" y="685800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costo al precio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240280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 costó hacerla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22402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$ 11.000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3063240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B84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quiero ganar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306324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B84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 5.500</a:t>
            </a:r>
            <a:endParaRPr lang="en-US" sz="3200" dirty="0"/>
          </a:p>
        </p:txBody>
      </p:sp>
      <p:sp>
        <p:nvSpPr>
          <p:cNvPr id="13" name="Shape 10"/>
          <p:cNvSpPr/>
          <p:nvPr/>
        </p:nvSpPr>
        <p:spPr>
          <a:xfrm>
            <a:off x="1005840" y="3950208"/>
            <a:ext cx="10149840" cy="36576"/>
          </a:xfrm>
          <a:prstGeom prst="rect">
            <a:avLst/>
          </a:prstGeom>
          <a:solidFill>
            <a:srgbClr val="0E3A54"/>
          </a:solidFill>
          <a:ln/>
        </p:spPr>
      </p:sp>
      <p:sp>
        <p:nvSpPr>
          <p:cNvPr id="14" name="Shape 11"/>
          <p:cNvSpPr/>
          <p:nvPr/>
        </p:nvSpPr>
        <p:spPr>
          <a:xfrm>
            <a:off x="1005840" y="4096512"/>
            <a:ext cx="10149840" cy="105156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4187952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LA VENDO EN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4187952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$ 16.500   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534924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la vende en $8.000, está pagando por trabajar.</a:t>
            </a:r>
            <a:endParaRPr lang="en-US" sz="2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6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34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FE7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REGLA DE ORO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828800"/>
            <a:ext cx="88696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4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tiempo</a:t>
            </a:r>
            <a:endParaRPr lang="en-US" sz="5600" dirty="0"/>
          </a:p>
          <a:p>
            <a:pPr indent="0" marL="0">
              <a:lnSpc>
                <a:spcPts val="64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también se cobra.</a:t>
            </a:r>
            <a:endParaRPr lang="en-US" sz="5600" dirty="0"/>
          </a:p>
        </p:txBody>
      </p:sp>
      <p:sp>
        <p:nvSpPr>
          <p:cNvPr id="4" name="Shape 2"/>
          <p:cNvSpPr/>
          <p:nvPr/>
        </p:nvSpPr>
        <p:spPr>
          <a:xfrm>
            <a:off x="566928" y="4343400"/>
            <a:ext cx="11064240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4343400"/>
            <a:ext cx="103327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no cuenta las horas que trabajó, el negocio parece que deja plata y en realidad no deja nada.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9784080" y="1965960"/>
            <a:ext cx="1783080" cy="178308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65512" y="2447392"/>
            <a:ext cx="820217" cy="82021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D2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6858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006754"/>
            <a:ext cx="546811" cy="54681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57400" y="685800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cuenta del mes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566928" y="2240280"/>
            <a:ext cx="3154680" cy="260604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" y="248716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ENTRÓ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401568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que</a:t>
            </a:r>
            <a:endParaRPr lang="en-US" sz="23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vendí en el mes</a:t>
            </a:r>
            <a:endParaRPr lang="en-US" sz="23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3063240"/>
            <a:ext cx="685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endParaRPr lang="en-US" sz="5200" dirty="0"/>
          </a:p>
        </p:txBody>
      </p:sp>
      <p:sp>
        <p:nvSpPr>
          <p:cNvPr id="13" name="Shape 10"/>
          <p:cNvSpPr/>
          <p:nvPr/>
        </p:nvSpPr>
        <p:spPr>
          <a:xfrm>
            <a:off x="4407408" y="2240280"/>
            <a:ext cx="3154680" cy="2606040"/>
          </a:xfrm>
          <a:prstGeom prst="rect">
            <a:avLst/>
          </a:prstGeom>
          <a:solidFill>
            <a:srgbClr val="5A6B7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63440" y="248716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SALIÓ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4663440" y="3401568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Materiales,</a:t>
            </a:r>
            <a:endParaRPr lang="en-US" sz="23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pasajes, bolsas</a:t>
            </a:r>
            <a:endParaRPr lang="en-US" sz="2300" dirty="0"/>
          </a:p>
        </p:txBody>
      </p:sp>
      <p:sp>
        <p:nvSpPr>
          <p:cNvPr id="16" name="Text 13"/>
          <p:cNvSpPr txBox="1"/>
          <p:nvPr/>
        </p:nvSpPr>
        <p:spPr>
          <a:xfrm>
            <a:off x="7562088" y="3063240"/>
            <a:ext cx="685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5200" dirty="0"/>
          </a:p>
        </p:txBody>
      </p:sp>
      <p:sp>
        <p:nvSpPr>
          <p:cNvPr id="17" name="Shape 14"/>
          <p:cNvSpPr/>
          <p:nvPr/>
        </p:nvSpPr>
        <p:spPr>
          <a:xfrm>
            <a:off x="8247888" y="2240280"/>
            <a:ext cx="3154680" cy="260604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503920" y="248716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QUEDÓ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8503920" y="3401568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de verdad</a:t>
            </a:r>
            <a:endParaRPr lang="en-US" sz="23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 ganó</a:t>
            </a:r>
            <a:endParaRPr lang="en-US" sz="230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507492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lo que queda da negativo: suba el precio o baje los gastos.</a:t>
            </a:r>
            <a:endParaRPr lang="en-US" sz="2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9F0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11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C6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AHORA USTED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646920" y="1143000"/>
            <a:ext cx="1920240" cy="192024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5385" y="1661465"/>
            <a:ext cx="883310" cy="88331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58368" y="109728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Saque la cuenta</a:t>
            </a:r>
            <a:endParaRPr lang="en-US" sz="4400" dirty="0"/>
          </a:p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SU producto</a:t>
            </a:r>
            <a:endParaRPr lang="en-US" sz="44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3337560"/>
          <a:ext cx="10881360" cy="914400"/>
        </p:xfrm>
        <a:graphic>
          <a:graphicData uri="http://schemas.openxmlformats.org/drawingml/2006/table">
            <a:tbl>
              <a:tblPr/>
              <a:tblGrid>
                <a:gridCol w="8138160"/>
                <a:gridCol w="274320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b="1" dirty="0">
                          <a:solidFill>
                            <a:srgbClr val="0E3A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Mis materiales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600" b="1" dirty="0">
                          <a:solidFill>
                            <a:srgbClr val="0E3A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 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dirty="0">
                          <a:solidFill>
                            <a:srgbClr val="0E3A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dirty="0">
                          <a:solidFill>
                            <a:srgbClr val="0E3A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b="1" dirty="0">
                          <a:solidFill>
                            <a:srgbClr val="0E3A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Mi tiempo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600" b="1" dirty="0">
                          <a:solidFill>
                            <a:srgbClr val="0E3A5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 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ME CUESTA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5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 </a:t>
                      </a:r>
                      <a:endParaRPr lang="en-US" sz="2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EBF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A5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685800"/>
            <a:ext cx="1188720" cy="11887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006754"/>
            <a:ext cx="546811" cy="54681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57400" y="685800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comprar, pregúntese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822960" y="2286000"/>
            <a:ext cx="868680" cy="868680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" y="2286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2103120" y="2286000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¿De verdad lo necesito?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822960" y="3520440"/>
            <a:ext cx="868680" cy="868680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" y="35204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2103120" y="3520440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¿Puedo esperar un poquito?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822960" y="4754880"/>
            <a:ext cx="868680" cy="868680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2960" y="47548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4754880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¿Tengo con qué pagarlo hoy?</a:t>
            </a:r>
            <a:endParaRPr lang="en-US" sz="3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9F0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11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C6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JUEGO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646920" y="1143000"/>
            <a:ext cx="1920240" cy="192024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5385" y="1661465"/>
            <a:ext cx="883310" cy="88331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58368" y="109728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664"/>
              </a:lnSpc>
              <a:buNone/>
            </a:pPr>
            <a:r>
              <a:rPr lang="en-US" sz="4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Repartamos la plata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063240"/>
            <a:ext cx="10424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grupo recibe fichas de dinero y decide</a:t>
            </a:r>
            <a:endParaRPr lang="en-US" sz="30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cuánto va para cada cosa: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658368" y="4526280"/>
            <a:ext cx="2606040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0"/>
          <p:cNvSpPr/>
          <p:nvPr/>
        </p:nvSpPr>
        <p:spPr>
          <a:xfrm>
            <a:off x="658368" y="4526280"/>
            <a:ext cx="2606040" cy="10972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95528" y="4636008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Materiales</a:t>
            </a:r>
            <a:endParaRPr lang="en-US" sz="2500" dirty="0"/>
          </a:p>
        </p:txBody>
      </p:sp>
      <p:sp>
        <p:nvSpPr>
          <p:cNvPr id="15" name="Shape 12"/>
          <p:cNvSpPr/>
          <p:nvPr/>
        </p:nvSpPr>
        <p:spPr>
          <a:xfrm>
            <a:off x="3447288" y="4526280"/>
            <a:ext cx="2606040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3"/>
          <p:cNvSpPr/>
          <p:nvPr/>
        </p:nvSpPr>
        <p:spPr>
          <a:xfrm>
            <a:off x="3447288" y="4526280"/>
            <a:ext cx="2606040" cy="10972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584448" y="4636008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Transporte</a:t>
            </a:r>
            <a:endParaRPr lang="en-US" sz="2500" dirty="0"/>
          </a:p>
        </p:txBody>
      </p:sp>
      <p:sp>
        <p:nvSpPr>
          <p:cNvPr id="18" name="Shape 15"/>
          <p:cNvSpPr/>
          <p:nvPr/>
        </p:nvSpPr>
        <p:spPr>
          <a:xfrm>
            <a:off x="6236208" y="4526280"/>
            <a:ext cx="2606040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6"/>
          <p:cNvSpPr/>
          <p:nvPr/>
        </p:nvSpPr>
        <p:spPr>
          <a:xfrm>
            <a:off x="6236208" y="4526280"/>
            <a:ext cx="2606040" cy="10972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373368" y="4636008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Empaque</a:t>
            </a:r>
            <a:endParaRPr lang="en-US" sz="2500" dirty="0"/>
          </a:p>
        </p:txBody>
      </p:sp>
      <p:sp>
        <p:nvSpPr>
          <p:cNvPr id="21" name="Shape 18"/>
          <p:cNvSpPr/>
          <p:nvPr/>
        </p:nvSpPr>
        <p:spPr>
          <a:xfrm>
            <a:off x="9025128" y="4526280"/>
            <a:ext cx="2606040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19"/>
          <p:cNvSpPr/>
          <p:nvPr/>
        </p:nvSpPr>
        <p:spPr>
          <a:xfrm>
            <a:off x="9025128" y="4526280"/>
            <a:ext cx="2606040" cy="109728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9162288" y="4636008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Ahorro</a:t>
            </a:r>
            <a:endParaRPr lang="en-US" sz="2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8404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DESCANSO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601200" y="2240280"/>
            <a:ext cx="2011680" cy="201168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4354" y="2783434"/>
            <a:ext cx="925373" cy="92537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1783080"/>
            <a:ext cx="8595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Refrigerio</a:t>
            </a:r>
            <a:endParaRPr lang="en-US" sz="60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54680"/>
            <a:ext cx="8595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minutos</a:t>
            </a:r>
            <a:endParaRPr lang="en-US" sz="4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9F0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411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C6B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CERRAR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646920" y="1143000"/>
            <a:ext cx="1920240" cy="192024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5385" y="1661465"/>
            <a:ext cx="883310" cy="88331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58368" y="109728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664"/>
              </a:lnSpc>
              <a:buNone/>
            </a:pPr>
            <a:r>
              <a:rPr lang="en-US" sz="4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se lleva</a:t>
            </a:r>
            <a:endParaRPr lang="en-US" sz="4800" dirty="0"/>
          </a:p>
          <a:p>
            <a:pPr indent="0" marL="0">
              <a:lnSpc>
                <a:spcPts val="5664"/>
              </a:lnSpc>
              <a:buNone/>
            </a:pPr>
            <a:r>
              <a:rPr lang="en-US" sz="4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hoy?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291840"/>
            <a:ext cx="10424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quien dice una sola cosa.</a:t>
            </a:r>
            <a:endParaRPr lang="en-US" sz="30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23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que no quiera hablar, pasa.</a:t>
            </a:r>
            <a:endParaRPr lang="en-US" sz="3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685800"/>
            <a:ext cx="1188720" cy="118872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006754"/>
            <a:ext cx="546811" cy="54681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57400" y="685800"/>
            <a:ext cx="9509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la casa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566928" y="2194560"/>
            <a:ext cx="11064240" cy="1417320"/>
          </a:xfrm>
          <a:prstGeom prst="rect">
            <a:avLst/>
          </a:prstGeom>
          <a:solidFill>
            <a:srgbClr val="15455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05840" y="2194560"/>
            <a:ext cx="104241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Escoja cómo mostrar lo que usted hace.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566928" y="3794760"/>
            <a:ext cx="11064240" cy="1417320"/>
          </a:xfrm>
          <a:prstGeom prst="rect">
            <a:avLst/>
          </a:prstGeom>
          <a:solidFill>
            <a:srgbClr val="15455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05840" y="3794760"/>
            <a:ext cx="104241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Piense en un gasto que sí y en uno que puede esperar.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5440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B9D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frase, un dibujo, un cartel o una foto. Como usted quiera.</a:t>
            </a:r>
            <a:endParaRPr lang="en-US" sz="2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6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19488" y="182880"/>
            <a:ext cx="201168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solidFill>
            <a:srgbClr val="F1F4F6"/>
          </a:solidFill>
          <a:ln w="12700">
            <a:solidFill>
              <a:srgbClr val="B6C6D0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9710928" y="27432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A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280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FE7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PRÓXIMA CLASE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874520"/>
            <a:ext cx="88696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4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empezamos</a:t>
            </a:r>
            <a:endParaRPr lang="en-US" sz="5600" dirty="0"/>
          </a:p>
          <a:p>
            <a:pPr indent="0" marL="0">
              <a:lnSpc>
                <a:spcPts val="64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trabajar</a:t>
            </a:r>
            <a:endParaRPr lang="en-US" sz="5600" dirty="0"/>
          </a:p>
        </p:txBody>
      </p:sp>
      <p:sp>
        <p:nvSpPr>
          <p:cNvPr id="7" name="Shape 5"/>
          <p:cNvSpPr/>
          <p:nvPr/>
        </p:nvSpPr>
        <p:spPr>
          <a:xfrm>
            <a:off x="9784080" y="2011680"/>
            <a:ext cx="1828800" cy="182880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505456"/>
            <a:ext cx="841248" cy="84124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14400" y="434340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Día: __________    Hora: __________    Lugar: __________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0" y="6382512"/>
            <a:ext cx="6144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D2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Sesion 5 - El telefono y el dinero de mi negocio</dc:title>
  <dc:subject>PptxGenJS Presentation</dc:subject>
  <dc:creator>Equipo de Personas Mayores</dc:creator>
  <cp:lastModifiedBy>Equipo de Personas Mayores</cp:lastModifiedBy>
  <cp:revision>1</cp:revision>
  <dcterms:created xsi:type="dcterms:W3CDTF">2026-09-09T14:47:56Z</dcterms:created>
  <dcterms:modified xsi:type="dcterms:W3CDTF">2026-09-09T14:47:56Z</dcterms:modified>
</cp:coreProperties>
</file>