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5 · FM-AO-05. Reemplace el recuadro de la izquierda por una foto del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Léala en voz alta y no profundice. Es solo para que sepan la forma del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 · 20 min. Empiece usted. Nadie está obligado a hablar. Incluya respuestas no digitales.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2 · 40 min. Subgrupos de 4 o 5. Cada grupo trae UNA sola historia a la plenaria.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3. Bloque de la mañana, con el grupo despierto.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 · 50 min. Diga en voz alta que el cartel y el voz a voz también son medios válidos.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3. Repita esta frase dos veces y deje un silencio. Es la más importante del bloque.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4 · 20 min. Juego "el mensaje que viaja": una frase pasa de persona en persona y al final se compara con la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5 · 1 hora. Muestre primero un objeto MAL presentado y pregunte al grupo qué le arreglarían.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está obligado a usar su celular ni a salir en la foto. Puede simularse en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6 · 10 min. Despacio. Sin conteos rápidos, sin competencia, nadie obligado a levantarse.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7 · 50 min. Sin precio la gente no pregunta: insista en ese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Cambie la vela por la técnica del grupo. El aviso es imaginario: no se publican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7. Solo 3 o 4 leen en voz alta, no todos. Nadie escribe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8 · 1 hora. Deje la diapositiva proyectada durante el almuerzo.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9 · 10 min. Ejemplos: el mercado, un vestido nuevo, la droga del mes, una olla para trabajar. No hay respuesta correcta.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10. Trabaje siempre con casos imaginarios.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 · 1 hora. Diga cada palabra despacio y pida un ejemplo del grupo. NO pida cifras personales de nadie.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Escríbalo en el tablero renglón por renglón, al mismo tiempo. El valor del tiempo es lo que siempre se olvida: insista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grupo cuántos habrían puesto un precio menor a 11.000. Ahí cae la idea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idea. Léala y deje un silencio de cinco segundos antes de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tres cajas. No use las palabras ingresos ni egresos aquí: entró, salió y quedó bastan.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 · 40 min. De a dos: quien ya sabe ayuda a quien no. Pasen por las mesas. Es un cálculo de su propio producto, no una cifra personal ni bancaria.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10. Enlaza con el ejercicio de necesidad o gusto de la mañana.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11 · 50 min. Caso imaginario, fichas de papel. Cada grupo explica por qué repartió así. No hay una única respuesta correcta.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12 · 20 min. Actividad breve, adaptada y voluntaria.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13 · 30 min. Cierre en autoestima, no en evaluación. Recoja la caja de preguntas anónimas antes de despedir.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en casa · 2 horas. No debe publicar información personal ni usar dinero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6: primera práctica. Deje escritos día, hora y lugar también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80560" y="274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MEDELLÍN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4480560" y="10058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QUIERE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283464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UNA FOTO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B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GRUPO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977640" y="2011680"/>
            <a:ext cx="566928" cy="29260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Shape 5"/>
          <p:cNvSpPr/>
          <p:nvPr/>
        </p:nvSpPr>
        <p:spPr>
          <a:xfrm>
            <a:off x="4544568" y="2011680"/>
            <a:ext cx="7086600" cy="292608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221284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697480"/>
            <a:ext cx="6400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TELÉFONO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DINERO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343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Artes y Oficios  ·  Personas Mayores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6035040"/>
            <a:ext cx="7086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B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vamos a hacer hoy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66928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214884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conocemos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 usamos el teléfono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2" name="Shape 9"/>
          <p:cNvSpPr/>
          <p:nvPr/>
        </p:nvSpPr>
        <p:spPr>
          <a:xfrm>
            <a:off x="4343400" y="214884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99432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99432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avisar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99432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cómo cuidarnos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119872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7" name="Shape 14"/>
          <p:cNvSpPr/>
          <p:nvPr/>
        </p:nvSpPr>
        <p:spPr>
          <a:xfrm>
            <a:off x="8119872" y="214884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75904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75904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8375904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de mi producto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66928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22" name="Shape 19"/>
          <p:cNvSpPr/>
          <p:nvPr/>
        </p:nvSpPr>
        <p:spPr>
          <a:xfrm>
            <a:off x="566928" y="4251960"/>
            <a:ext cx="3502152" cy="100584"/>
          </a:xfrm>
          <a:prstGeom prst="rect">
            <a:avLst/>
          </a:prstGeom>
          <a:solidFill>
            <a:srgbClr val="5A6B7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MEDIODÍA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4343400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27" name="Shape 24"/>
          <p:cNvSpPr/>
          <p:nvPr/>
        </p:nvSpPr>
        <p:spPr>
          <a:xfrm>
            <a:off x="4343400" y="425196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99432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4599432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4599432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 y lo que sale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8119872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32" name="Shape 29"/>
          <p:cNvSpPr/>
          <p:nvPr/>
        </p:nvSpPr>
        <p:spPr>
          <a:xfrm>
            <a:off x="8119872" y="425196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375904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8375904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8375904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me llevo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EMPEZAR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usa usted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teléfono?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anotando en el tablero todo lo que salga.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vale el cartel, la llamada y el voz a voz.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CONVERSEMOS EN GRUPOS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enteró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gente?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Piense en algo que usted vendió, prestó o regaló.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supo la gente que usted lo tenía?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2148840"/>
            <a:ext cx="731520" cy="25146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34440" y="21488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8412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aviso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hago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480060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llamada · El WhatsApp · La foto · El cartel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921240" y="2286000"/>
            <a:ext cx="1737360" cy="173736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327" y="275508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muchas formas de avisar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1078992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46" y="2835554"/>
            <a:ext cx="546811" cy="54681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llamada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3291840" y="25146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794" y="2835554"/>
            <a:ext cx="546811" cy="54681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834640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WhatsApp</a:t>
            </a:r>
            <a:endParaRPr lang="en-US" sz="2600" dirty="0"/>
          </a:p>
        </p:txBody>
      </p:sp>
      <p:sp>
        <p:nvSpPr>
          <p:cNvPr id="12" name="Shape 7"/>
          <p:cNvSpPr/>
          <p:nvPr/>
        </p:nvSpPr>
        <p:spPr>
          <a:xfrm>
            <a:off x="5504688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642" y="2835554"/>
            <a:ext cx="546811" cy="54681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047488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</a:t>
            </a:r>
            <a:endParaRPr lang="en-US" sz="2600" dirty="0"/>
          </a:p>
        </p:txBody>
      </p:sp>
      <p:sp>
        <p:nvSpPr>
          <p:cNvPr id="15" name="Shape 9"/>
          <p:cNvSpPr/>
          <p:nvPr/>
        </p:nvSpPr>
        <p:spPr>
          <a:xfrm>
            <a:off x="7717536" y="25146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490" y="2835554"/>
            <a:ext cx="546811" cy="54681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260336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cartel</a:t>
            </a:r>
            <a:endParaRPr lang="en-US" sz="2600" dirty="0"/>
          </a:p>
        </p:txBody>
      </p:sp>
      <p:sp>
        <p:nvSpPr>
          <p:cNvPr id="18" name="Shape 11"/>
          <p:cNvSpPr/>
          <p:nvPr/>
        </p:nvSpPr>
        <p:spPr>
          <a:xfrm>
            <a:off x="9930384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338" y="2835554"/>
            <a:ext cx="546811" cy="54681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473184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voz a voz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1 DE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dé su clave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por teléfono. Ni por mensaje. A nadie.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banco nunca le pide la clave.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2 DE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abra enlaces</a:t>
            </a:r>
            <a:endParaRPr lang="en-US" sz="5400" dirty="0"/>
          </a:p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raros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sabe quién lo mandó, no lo abra.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tiene duda, pregúntele a alguien de confianza.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3 DE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Pida permiso</a:t>
            </a:r>
            <a:endParaRPr lang="en-US" sz="5200" dirty="0"/>
          </a:p>
          <a:p>
            <a:pPr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la foto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tomarle una foto a alguien, pregúntele.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antes de publicarla, también.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4 DE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apuran,</a:t>
            </a:r>
            <a:endParaRPr lang="en-US" sz="5400" dirty="0"/>
          </a:p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desconfíe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serio le pide plata de afán.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por un número que usted ya conozca.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Refrigerio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4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bien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Shape 5"/>
          <p:cNvSpPr/>
          <p:nvPr/>
        </p:nvSpPr>
        <p:spPr>
          <a:xfrm>
            <a:off x="1700784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083" y="2729027"/>
            <a:ext cx="567842" cy="567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5528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Con luz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795528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lado de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ventana</a:t>
            </a:r>
            <a:endParaRPr lang="en-US" sz="2300" dirty="0"/>
          </a:p>
        </p:txBody>
      </p:sp>
      <p:sp>
        <p:nvSpPr>
          <p:cNvPr id="12" name="Shape 8"/>
          <p:cNvSpPr/>
          <p:nvPr/>
        </p:nvSpPr>
        <p:spPr>
          <a:xfrm>
            <a:off x="4343400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3" name="Shape 9"/>
          <p:cNvSpPr/>
          <p:nvPr/>
        </p:nvSpPr>
        <p:spPr>
          <a:xfrm>
            <a:off x="4343400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4" name="Shape 10"/>
          <p:cNvSpPr/>
          <p:nvPr/>
        </p:nvSpPr>
        <p:spPr>
          <a:xfrm>
            <a:off x="5477256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5" y="2729027"/>
            <a:ext cx="567842" cy="567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72000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Sin desorden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0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tela o una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pared limpia</a:t>
            </a:r>
            <a:endParaRPr lang="en-US" sz="2300" dirty="0"/>
          </a:p>
        </p:txBody>
      </p:sp>
      <p:sp>
        <p:nvSpPr>
          <p:cNvPr id="18" name="Shape 13"/>
          <p:cNvSpPr/>
          <p:nvPr/>
        </p:nvSpPr>
        <p:spPr>
          <a:xfrm>
            <a:off x="8119872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9" name="Shape 14"/>
          <p:cNvSpPr/>
          <p:nvPr/>
        </p:nvSpPr>
        <p:spPr>
          <a:xfrm>
            <a:off x="8119872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20" name="Shape 15"/>
          <p:cNvSpPr/>
          <p:nvPr/>
        </p:nvSpPr>
        <p:spPr>
          <a:xfrm>
            <a:off x="9253728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7027" y="2729027"/>
            <a:ext cx="567842" cy="567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348472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De cerquita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348472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se vea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 grande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USTED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Tómele una foto a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usted hace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tiene teléfono, dibújelo en una hoja.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valen igual.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DEBE1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5349240"/>
            <a:ext cx="128016" cy="8686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Anexe aquí una foto de una pieza de la técnica del grupo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ESTIRAMOS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activa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20624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Movemos hombros, manos y tobillos.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Sentados o de pie, como cada quien pueda.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aviso lleva cuatro cosas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124129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974" y="2897276"/>
            <a:ext cx="651967" cy="6519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llama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00735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4" y="2897276"/>
            <a:ext cx="651967" cy="65196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8785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338785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sirve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677341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094" y="2897276"/>
            <a:ext cx="651967" cy="65196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5391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vale</a:t>
            </a:r>
            <a:endParaRPr lang="en-US" sz="3200" dirty="0"/>
          </a:p>
        </p:txBody>
      </p:sp>
      <p:sp>
        <p:nvSpPr>
          <p:cNvPr id="17" name="Text 11"/>
          <p:cNvSpPr txBox="1"/>
          <p:nvPr/>
        </p:nvSpPr>
        <p:spPr>
          <a:xfrm>
            <a:off x="615391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precio,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</a:t>
            </a:r>
            <a:endParaRPr lang="en-US" sz="2400" dirty="0"/>
          </a:p>
        </p:txBody>
      </p:sp>
      <p:sp>
        <p:nvSpPr>
          <p:cNvPr id="18" name="Shape 12"/>
          <p:cNvSpPr/>
          <p:nvPr/>
        </p:nvSpPr>
        <p:spPr>
          <a:xfrm>
            <a:off x="953947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154" y="2897276"/>
            <a:ext cx="651967" cy="65196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1997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pedirlo</a:t>
            </a:r>
            <a:endParaRPr lang="en-US" sz="3200" dirty="0"/>
          </a:p>
        </p:txBody>
      </p:sp>
      <p:sp>
        <p:nvSpPr>
          <p:cNvPr id="21" name="Text 14"/>
          <p:cNvSpPr txBox="1"/>
          <p:nvPr/>
        </p:nvSpPr>
        <p:spPr>
          <a:xfrm>
            <a:off x="891997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lo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buscan a usted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aviso armado se ve así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7680960" cy="306324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2103120"/>
            <a:ext cx="128016" cy="306324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286000"/>
            <a:ext cx="70408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Velas de cera con olor a limón.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 6 horas prendidas.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$ 16.500 cada una.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mi contacto.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595360" y="233172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0" y="22585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8595360" y="306324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0" y="29900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595360" y="397764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0" y="39044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vale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595360" y="461772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0" y="45445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pedirlo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escriba su teléfono ni su dirección en la pantalla del salón.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PAREJAS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Arme el aviso</a:t>
            </a:r>
            <a:endParaRPr lang="en-US" sz="4600" dirty="0"/>
          </a:p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 producto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el del compañero. Después el suyo.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ninguno escribe, lo dictan y el auxiliar escribe.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DEBE1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5349240"/>
            <a:ext cx="128016" cy="8686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Anexe aquí un aviso de ejemplo con la técnica del grupo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Volvemos en 1 hora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20624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 en el tablero la hora exacta de regreso.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DEL ALMUERZO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¿Necesidad o gusto?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arriba  →  es necesidad.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abajo  →  es gusto.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plana  →  depende.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2148840"/>
            <a:ext cx="731520" cy="25146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34440" y="21488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2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8412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de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negocio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480060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 · Lo que sale · Lo que queda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921240" y="2286000"/>
            <a:ext cx="1737360" cy="173736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327" y="275508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palabras del dinero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124129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974" y="2897276"/>
            <a:ext cx="651967" cy="6519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le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pagan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00735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4" y="2897276"/>
            <a:ext cx="651967" cy="65196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8785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338785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gastó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hacerlo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677341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094" y="2897276"/>
            <a:ext cx="651967" cy="65196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5391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</a:t>
            </a:r>
            <a:endParaRPr lang="en-US" sz="3200" dirty="0"/>
          </a:p>
        </p:txBody>
      </p:sp>
      <p:sp>
        <p:nvSpPr>
          <p:cNvPr id="17" name="Text 11"/>
          <p:cNvSpPr txBox="1"/>
          <p:nvPr/>
        </p:nvSpPr>
        <p:spPr>
          <a:xfrm>
            <a:off x="615391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Pasajes,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bolsas</a:t>
            </a:r>
            <a:endParaRPr lang="en-US" sz="2400" dirty="0"/>
          </a:p>
        </p:txBody>
      </p:sp>
      <p:sp>
        <p:nvSpPr>
          <p:cNvPr id="18" name="Shape 12"/>
          <p:cNvSpPr/>
          <p:nvPr/>
        </p:nvSpPr>
        <p:spPr>
          <a:xfrm>
            <a:off x="953947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154" y="2897276"/>
            <a:ext cx="651967" cy="65196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1997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</a:t>
            </a:r>
            <a:endParaRPr lang="en-US" sz="3200" dirty="0"/>
          </a:p>
        </p:txBody>
      </p:sp>
      <p:sp>
        <p:nvSpPr>
          <p:cNvPr id="21" name="Text 14"/>
          <p:cNvSpPr txBox="1"/>
          <p:nvPr/>
        </p:nvSpPr>
        <p:spPr>
          <a:xfrm>
            <a:off x="891997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guarda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después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cuesta hacer UNA vela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21031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1031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3.000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761488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Pabilo y esencia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76148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1.000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419856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41985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2.000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1005840" y="4187952"/>
            <a:ext cx="10149840" cy="36576"/>
          </a:xfrm>
          <a:prstGeom prst="rect">
            <a:avLst/>
          </a:prstGeom>
          <a:solidFill>
            <a:srgbClr val="B6C6D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242816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tiempo  (1 hora)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24281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5.000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1005840" y="5010912"/>
            <a:ext cx="10149840" cy="841248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05840" y="5056632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 CUESTA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505663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$ 11.000   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43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Cambie la vela por la técnica del grupo y sus precios reales.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costo al precio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224028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costó hacerla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2402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$ 11.000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06324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quiero ganar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0632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5.500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1005840" y="3950208"/>
            <a:ext cx="10149840" cy="36576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1" name="Shape 8"/>
          <p:cNvSpPr/>
          <p:nvPr/>
        </p:nvSpPr>
        <p:spPr>
          <a:xfrm>
            <a:off x="1005840" y="4096512"/>
            <a:ext cx="10149840" cy="105156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4187952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LA VENDO EN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418795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$ 16.500   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34924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vende en $8.000, está pagando por trabajar.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E7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ORO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28800"/>
            <a:ext cx="88696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</a:t>
            </a:r>
            <a:endParaRPr lang="en-US" sz="56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se cobra.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66928" y="4343400"/>
            <a:ext cx="11064240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4343400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cuenta las horas que trabajó, el negocio parece que deja plata y en realidad no deja nada.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1965960"/>
            <a:ext cx="1783080" cy="178308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5512" y="2447392"/>
            <a:ext cx="820217" cy="82021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D2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del mes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66928" y="2240280"/>
            <a:ext cx="3154680" cy="260604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ENTRÓ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vendí en el mes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3721608" y="3063240"/>
            <a:ext cx="685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5200" dirty="0"/>
          </a:p>
        </p:txBody>
      </p:sp>
      <p:sp>
        <p:nvSpPr>
          <p:cNvPr id="10" name="Shape 7"/>
          <p:cNvSpPr/>
          <p:nvPr/>
        </p:nvSpPr>
        <p:spPr>
          <a:xfrm>
            <a:off x="4407408" y="2240280"/>
            <a:ext cx="3154680" cy="2606040"/>
          </a:xfrm>
          <a:prstGeom prst="rect">
            <a:avLst/>
          </a:prstGeom>
          <a:solidFill>
            <a:srgbClr val="5A6B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6344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SALIÓ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Materiales,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pasajes, bolsas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7562088" y="3063240"/>
            <a:ext cx="685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5200" dirty="0"/>
          </a:p>
        </p:txBody>
      </p:sp>
      <p:sp>
        <p:nvSpPr>
          <p:cNvPr id="14" name="Shape 11"/>
          <p:cNvSpPr/>
          <p:nvPr/>
        </p:nvSpPr>
        <p:spPr>
          <a:xfrm>
            <a:off x="8247888" y="2240280"/>
            <a:ext cx="3154680" cy="26060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0392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QUEDÓ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 verdad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ganó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074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que queda da negativo: suba el precio o baje los gastos.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USTED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Saque la cuenta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 producto</a:t>
            </a:r>
            <a:endParaRPr lang="en-US" sz="4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337560"/>
          <a:ext cx="10881360" cy="914400"/>
        </p:xfrm>
        <a:graphic>
          <a:graphicData uri="http://schemas.openxmlformats.org/drawingml/2006/table">
            <a:tbl>
              <a:tblPr/>
              <a:tblGrid>
                <a:gridCol w="8138160"/>
                <a:gridCol w="27432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Mis materiales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Mi tiempo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ME CUESTA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5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5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comprar, pregúntese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28600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verdad lo necesito?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352044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3520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103120" y="35204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¿Puedo esperar un poquito?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822960" y="475488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4754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103120" y="475488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¿Tengo con qué pagarlo hoy?</a:t>
            </a:r>
            <a:endParaRPr lang="en-US" sz="3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Repartamos la plata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0632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grupo recibe fichas de dinero y decide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 para cada cosa: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65836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9552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344728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4728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8444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Transporte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23620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620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7336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Empaque</a:t>
            </a:r>
            <a:endParaRPr lang="en-US" sz="2500" dirty="0"/>
          </a:p>
        </p:txBody>
      </p:sp>
      <p:sp>
        <p:nvSpPr>
          <p:cNvPr id="18" name="Shape 15"/>
          <p:cNvSpPr/>
          <p:nvPr/>
        </p:nvSpPr>
        <p:spPr>
          <a:xfrm>
            <a:off x="902512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902512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6228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</a:t>
            </a:r>
            <a:endParaRPr lang="en-US" sz="2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Refrigerio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4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se lleva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hoy?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quien dice una sola cosa.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no quiera hablar, pasa.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la casa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66928" y="2194560"/>
            <a:ext cx="11064240" cy="141732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5840" y="2194560"/>
            <a:ext cx="10424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Escoja cómo mostrar lo que usted hace.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66928" y="3794760"/>
            <a:ext cx="11064240" cy="141732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794760"/>
            <a:ext cx="10424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Piense en un gasto que sí y en uno que puede esperar.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frase, un dibujo, un cartel o una foto. Como usted quiera.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80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E7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PRÓXIMA CLASE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745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empezamos</a:t>
            </a:r>
            <a:endParaRPr lang="en-US" sz="56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trabajar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9784080" y="2011680"/>
            <a:ext cx="1828800" cy="18288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505456"/>
            <a:ext cx="841248" cy="8412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Día: __________    Hora: __________    Lugar: __________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D2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Sesion 5 - El telefono y el dinero de mi negocio</dc:title>
  <dc:subject>PptxGenJS Presentation</dc:subject>
  <dc:creator>Equipo de Personas Mayores</dc:creator>
  <cp:lastModifiedBy>Equipo de Personas Mayores</cp:lastModifiedBy>
  <cp:revision>1</cp:revision>
  <dcterms:created xsi:type="dcterms:W3CDTF">2026-09-09T02:03:03Z</dcterms:created>
  <dcterms:modified xsi:type="dcterms:W3CDTF">2026-09-09T02:03:03Z</dcterms:modified>
</cp:coreProperties>
</file>