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5 · FM-AO-05. Título dicho en palabras del grupo. Reemplace el recuadro por una foto.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1. Dígalo en dos frases. No lea el objetivo del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1 · 20 min. Juego "¿Para qué uso la tecnología?". Incluya opciones no digitales.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2 · 40 min. Subgrupos. Cada grupo trae una sola historia a la plenaria.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3 · 50 min. El cartel y el voz a voz también son medios válidos: dígalo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4 · 20 min. Juego "Mensaje que viaja": una frase pasa de persona en persona y al final se compara con la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5 · 1 hora. Muestre primero un objeto MAL presentado y pregunte qué le arreglarían.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Puede simularse en papel. Nadie está obligado a usar su celular ni a salir en la foto.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6 · 10 min. Descanso visual y movilidad suave de manos, cuello y hombros. Sentados o de pie.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7 · 50 min. Sin publicar datos reales: se escribe "aquí va mi contacto".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en una pareja ninguno escribe, lo dictan y el auxiliar escribe. Solo 3 o 4 leen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8 · 1 hora. Escriba la hora exacta de regreso en el tablero.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9 · 10 min. Ejemplos: el mercado, un vestido nuevo, la droga del mes, una olla para trabajar. No hay respuesta correcta.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10 · 1 hora. Explique con ejemplos de una iniciativa. NO solicite cifras personales de nadie.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Trabaje con casos imaginarios. No pida claves, saldos, deudas ni información bancaria.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11 · 50 min. Con fichas y un caso imaginario. Prioricen materiales, transporte, empaque, ahorro y otros gastos.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12 · 20 min. Actividad breve, adaptada y voluntaria.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13 · 30 min. Integre los seis ejes teóricos. Termine en autoestima, no en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Trabajo en casa · 2 horas. No debe publicar información ni usar dinero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6: primera práctica. Deje escritos día, hora y lugar en el tablero.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80560" y="50292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154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MEDELLÍN</a:t>
            </a:r>
            <a:endParaRPr lang="en-US" sz="6200" dirty="0"/>
          </a:p>
        </p:txBody>
      </p:sp>
      <p:sp>
        <p:nvSpPr>
          <p:cNvPr id="3" name="Text 1"/>
          <p:cNvSpPr txBox="1"/>
          <p:nvPr/>
        </p:nvSpPr>
        <p:spPr>
          <a:xfrm>
            <a:off x="4480560" y="1298448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154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QUIERE</a:t>
            </a:r>
            <a:endParaRPr lang="en-US" sz="6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B4E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283464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9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VA UNA FOTO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6E9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GRUPO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77640" y="2103120"/>
            <a:ext cx="566928" cy="274320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7" name="Shape 5"/>
          <p:cNvSpPr/>
          <p:nvPr/>
        </p:nvSpPr>
        <p:spPr>
          <a:xfrm>
            <a:off x="4544568" y="2103120"/>
            <a:ext cx="7086600" cy="274320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D6F1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5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74320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TELÉFONO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EL DINERO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43159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Artes y Oficios  ·  Personas Mayores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6035040"/>
            <a:ext cx="7086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vamos a ver dos cosas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2583180" y="2606040"/>
            <a:ext cx="1508760" cy="150876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0545" y="3013405"/>
            <a:ext cx="694030" cy="6940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4370832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teléfono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047488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mostrar</a:t>
            </a:r>
            <a:endParaRPr lang="en-US" sz="22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usted hace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069580" y="2606040"/>
            <a:ext cx="1508760" cy="150876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945" y="3013405"/>
            <a:ext cx="694030" cy="6940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172200" y="4370832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dinero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6172200" y="5047488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entra</a:t>
            </a:r>
            <a:endParaRPr lang="en-US" sz="22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cuánto se guarda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EMPEZAR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148840"/>
            <a:ext cx="2103120" cy="210312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7166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25880"/>
            <a:ext cx="8503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 usa usted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teléfono?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06240"/>
            <a:ext cx="8503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8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anotando todo lo que salga.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8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vale el cartel, la llamada y el voz a voz.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A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CONVERSEMOS EN GRUPOS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148840"/>
            <a:ext cx="2103120" cy="210312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7166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25880"/>
            <a:ext cx="8503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enteró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gente?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06240"/>
            <a:ext cx="8503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8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Piense en algo que usted vendió, prestó o regaló.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8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supo la gente que usted lo tenía?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AVISAR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muchas formas de avisar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1074420" y="2606040"/>
            <a:ext cx="1234440" cy="123444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7719" y="2939339"/>
            <a:ext cx="567842" cy="567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40965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llamada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3268980" y="2606040"/>
            <a:ext cx="1234440" cy="123444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279" y="2939339"/>
            <a:ext cx="567842" cy="567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80360" y="40965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WhatsApp</a:t>
            </a:r>
            <a:endParaRPr lang="en-US" sz="2500" dirty="0"/>
          </a:p>
        </p:txBody>
      </p:sp>
      <p:sp>
        <p:nvSpPr>
          <p:cNvPr id="11" name="Shape 7"/>
          <p:cNvSpPr/>
          <p:nvPr/>
        </p:nvSpPr>
        <p:spPr>
          <a:xfrm>
            <a:off x="5463540" y="2606040"/>
            <a:ext cx="1234440" cy="123444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839" y="2939339"/>
            <a:ext cx="567842" cy="567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74920" y="40965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foto</a:t>
            </a:r>
            <a:endParaRPr lang="en-US" sz="2500" dirty="0"/>
          </a:p>
        </p:txBody>
      </p:sp>
      <p:sp>
        <p:nvSpPr>
          <p:cNvPr id="14" name="Shape 9"/>
          <p:cNvSpPr/>
          <p:nvPr/>
        </p:nvSpPr>
        <p:spPr>
          <a:xfrm>
            <a:off x="7658100" y="2606040"/>
            <a:ext cx="1234440" cy="123444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399" y="2939339"/>
            <a:ext cx="567842" cy="56784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69480" y="40965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cartel</a:t>
            </a:r>
            <a:endParaRPr lang="en-US" sz="2500" dirty="0"/>
          </a:p>
        </p:txBody>
      </p:sp>
      <p:sp>
        <p:nvSpPr>
          <p:cNvPr id="17" name="Shape 11"/>
          <p:cNvSpPr/>
          <p:nvPr/>
        </p:nvSpPr>
        <p:spPr>
          <a:xfrm>
            <a:off x="9852660" y="2606040"/>
            <a:ext cx="1234440" cy="123444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959" y="2939339"/>
            <a:ext cx="567842" cy="56784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464040" y="40965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voz a voz</a:t>
            </a:r>
            <a:endParaRPr 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148840"/>
            <a:ext cx="2103120" cy="210312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7166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25880"/>
            <a:ext cx="8503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dé su clave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06240"/>
            <a:ext cx="8503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9F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por teléfono. Ni por mensaje. A nadie.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9F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banco nunca le pide la clave.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148840"/>
            <a:ext cx="2103120" cy="210312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7166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25880"/>
            <a:ext cx="8503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9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abra enlaces</a:t>
            </a:r>
            <a:endParaRPr lang="en-US" sz="4600" dirty="0"/>
          </a:p>
          <a:p>
            <a:pPr indent="0" marL="0">
              <a:lnSpc>
                <a:spcPts val="529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raros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06240"/>
            <a:ext cx="8503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9F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sabe quién lo mandó, no lo abra.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9F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tiene duda, pregúntele a alguien de confianza.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148840"/>
            <a:ext cx="2103120" cy="210312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7166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25880"/>
            <a:ext cx="8503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9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Pida permiso</a:t>
            </a:r>
            <a:endParaRPr lang="en-US" sz="4600" dirty="0"/>
          </a:p>
          <a:p>
            <a:pPr indent="0" marL="0">
              <a:lnSpc>
                <a:spcPts val="529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la foto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06240"/>
            <a:ext cx="8503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9F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tomarle una foto a alguien, pregúntele.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9F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antes de publicarla, también.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148840"/>
            <a:ext cx="2103120" cy="210312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7166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25880"/>
            <a:ext cx="8503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9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lo apuran,</a:t>
            </a:r>
            <a:endParaRPr lang="en-US" sz="4600" dirty="0"/>
          </a:p>
          <a:p>
            <a:pPr indent="0" marL="0">
              <a:lnSpc>
                <a:spcPts val="529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desconfíe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06240"/>
            <a:ext cx="8503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9F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serio le pide plata de afán.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9F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Tómese su tiempo y confirme por un número que usted ya conozca.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DESCANSO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377440"/>
            <a:ext cx="2103120" cy="210312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9452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2024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Refrigerio</a:t>
            </a:r>
            <a:endParaRPr lang="en-US" sz="5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minutos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LO QUE HACE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se ve bien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1668780" y="2606040"/>
            <a:ext cx="1508760" cy="150876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6145" y="3013405"/>
            <a:ext cx="694030" cy="6940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437083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luz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04748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lado de</a:t>
            </a:r>
            <a:endParaRPr lang="en-US" sz="22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ventana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326380" y="2606040"/>
            <a:ext cx="1508760" cy="150876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745" y="3013405"/>
            <a:ext cx="694030" cy="6940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437083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desorden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504748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tela o</a:t>
            </a:r>
            <a:endParaRPr lang="en-US" sz="22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pared limpia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8983980" y="2606040"/>
            <a:ext cx="1508760" cy="150876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345" y="3013405"/>
            <a:ext cx="694030" cy="69403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001000" y="437083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cerquita</a:t>
            </a:r>
            <a:endParaRPr lang="en-US" sz="3000" dirty="0"/>
          </a:p>
        </p:txBody>
      </p:sp>
      <p:sp>
        <p:nvSpPr>
          <p:cNvPr id="16" name="Text 11"/>
          <p:cNvSpPr txBox="1"/>
          <p:nvPr/>
        </p:nvSpPr>
        <p:spPr>
          <a:xfrm>
            <a:off x="8001000" y="504748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se vea</a:t>
            </a:r>
            <a:endParaRPr lang="en-US" sz="22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 grande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USTED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148840"/>
            <a:ext cx="2103120" cy="210312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7166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25880"/>
            <a:ext cx="8503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Tómele una foto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 que usted hace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06240"/>
            <a:ext cx="8503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8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tiene teléfono, dibújelo en una hoja.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8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dos formas valen igual.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5623560"/>
            <a:ext cx="8503920" cy="868680"/>
          </a:xfrm>
          <a:prstGeom prst="rect">
            <a:avLst/>
          </a:prstGeom>
          <a:solidFill>
            <a:srgbClr val="FDEBE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56235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4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  Anexe aquí una foto de una pieza de la técnica del grupo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ESTIRAMOS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377440"/>
            <a:ext cx="2103120" cy="210312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9452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2024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 activa</a:t>
            </a:r>
            <a:endParaRPr lang="en-US" sz="5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AVISO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aviso lleva cuatro cosas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1211580" y="2606040"/>
            <a:ext cx="1508760" cy="150876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945" y="3013405"/>
            <a:ext cx="694030" cy="6940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43708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nombre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04748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llama</a:t>
            </a:r>
            <a:endParaRPr lang="en-US" sz="22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hace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954780" y="2606040"/>
            <a:ext cx="1508760" cy="150876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145" y="3013405"/>
            <a:ext cx="694030" cy="6940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43708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504748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qué</a:t>
            </a:r>
            <a:endParaRPr lang="en-US" sz="22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6697980" y="2606040"/>
            <a:ext cx="1508760" cy="150876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345" y="3013405"/>
            <a:ext cx="694030" cy="69403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172200" y="43708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vale</a:t>
            </a:r>
            <a:endParaRPr lang="en-US" sz="3000" dirty="0"/>
          </a:p>
        </p:txBody>
      </p:sp>
      <p:sp>
        <p:nvSpPr>
          <p:cNvPr id="16" name="Text 11"/>
          <p:cNvSpPr txBox="1"/>
          <p:nvPr/>
        </p:nvSpPr>
        <p:spPr>
          <a:xfrm>
            <a:off x="6172200" y="504748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precio,</a:t>
            </a:r>
            <a:endParaRPr lang="en-US" sz="22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9441180" y="2606040"/>
            <a:ext cx="1508760" cy="150876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8545" y="3013405"/>
            <a:ext cx="694030" cy="69403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15400" y="43708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lo piden</a:t>
            </a:r>
            <a:endParaRPr lang="en-US" sz="3000" dirty="0"/>
          </a:p>
        </p:txBody>
      </p:sp>
      <p:sp>
        <p:nvSpPr>
          <p:cNvPr id="20" name="Text 14"/>
          <p:cNvSpPr txBox="1"/>
          <p:nvPr/>
        </p:nvSpPr>
        <p:spPr>
          <a:xfrm>
            <a:off x="8915400" y="504748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lo</a:t>
            </a:r>
            <a:endParaRPr lang="en-US" sz="22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buscan a usted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A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PAREJAS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148840"/>
            <a:ext cx="2103120" cy="210312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7166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25880"/>
            <a:ext cx="8503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Arme el aviso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su producto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06240"/>
            <a:ext cx="8503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8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el del compañero. Después el suyo.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8503920" cy="868680"/>
          </a:xfrm>
          <a:prstGeom prst="rect">
            <a:avLst/>
          </a:prstGeom>
          <a:solidFill>
            <a:srgbClr val="FDEBE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507492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4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  Anexe aquí un aviso de ejemplo con la técnica del grupo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9893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escriba su teléfono ni su dirección. Escriba: «aquí va mi contacto».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ALMUERZO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377440"/>
            <a:ext cx="2103120" cy="210312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9452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2024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Almuerzo</a:t>
            </a:r>
            <a:endParaRPr lang="en-US" sz="5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Volvemos en 1 hora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A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DEL ALMUERZO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148840"/>
            <a:ext cx="2103120" cy="210312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7166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25880"/>
            <a:ext cx="8503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¿Necesidad o gusto?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06240"/>
            <a:ext cx="8503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8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 arriba si es necesidad.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8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 abajo si es gusto.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8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 plana si depende.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DINERO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palabras del dinero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1211580" y="2606040"/>
            <a:ext cx="1508760" cy="150876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945" y="3013405"/>
            <a:ext cx="694030" cy="6940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43708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04748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le</a:t>
            </a:r>
            <a:endParaRPr lang="en-US" sz="22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pagan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954780" y="2606040"/>
            <a:ext cx="1508760" cy="150876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145" y="3013405"/>
            <a:ext cx="694030" cy="6940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43708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504748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gastó</a:t>
            </a:r>
            <a:endParaRPr lang="en-US" sz="22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hacerlo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6697980" y="2606040"/>
            <a:ext cx="1508760" cy="150876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345" y="3013405"/>
            <a:ext cx="694030" cy="69403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172200" y="43708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</a:t>
            </a:r>
            <a:endParaRPr lang="en-US" sz="3000" dirty="0"/>
          </a:p>
        </p:txBody>
      </p:sp>
      <p:sp>
        <p:nvSpPr>
          <p:cNvPr id="16" name="Text 11"/>
          <p:cNvSpPr txBox="1"/>
          <p:nvPr/>
        </p:nvSpPr>
        <p:spPr>
          <a:xfrm>
            <a:off x="6172200" y="504748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Pasajes,</a:t>
            </a:r>
            <a:endParaRPr lang="en-US" sz="22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bolsas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9441180" y="2606040"/>
            <a:ext cx="1508760" cy="150876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8545" y="3013405"/>
            <a:ext cx="694030" cy="69403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15400" y="43708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</a:t>
            </a:r>
            <a:endParaRPr lang="en-US" sz="3000" dirty="0"/>
          </a:p>
        </p:txBody>
      </p:sp>
      <p:sp>
        <p:nvSpPr>
          <p:cNvPr id="20" name="Text 14"/>
          <p:cNvSpPr txBox="1"/>
          <p:nvPr/>
        </p:nvSpPr>
        <p:spPr>
          <a:xfrm>
            <a:off x="8915400" y="504748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guarda</a:t>
            </a:r>
            <a:endParaRPr lang="en-US" sz="22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después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CUENTA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148840"/>
            <a:ext cx="2103120" cy="21031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7166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25880"/>
            <a:ext cx="8503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90"/>
              </a:lnSpc>
              <a:buNone/>
            </a:pPr>
            <a:r>
              <a:rPr lang="en-US" sz="4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entra</a:t>
            </a:r>
            <a:endParaRPr lang="en-US" sz="4600" dirty="0"/>
          </a:p>
          <a:p>
            <a:pPr indent="0" marL="0">
              <a:lnSpc>
                <a:spcPts val="5290"/>
              </a:lnSpc>
              <a:buNone/>
            </a:pPr>
            <a:r>
              <a:rPr lang="en-US" sz="4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lo que sale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06240"/>
            <a:ext cx="8503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 es lo que de verdad le queda.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5623560"/>
            <a:ext cx="8503920" cy="868680"/>
          </a:xfrm>
          <a:prstGeom prst="rect">
            <a:avLst/>
          </a:prstGeom>
          <a:solidFill>
            <a:srgbClr val="FDEBE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56235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4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  Anexe aquí un ejemplo con precios de la técnica del grupo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COMPRAR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148840"/>
            <a:ext cx="2103120" cy="21031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7166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25880"/>
            <a:ext cx="8503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90"/>
              </a:lnSpc>
              <a:buNone/>
            </a:pPr>
            <a:r>
              <a:rPr lang="en-US" sz="4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Pregúntese tres</a:t>
            </a:r>
            <a:endParaRPr lang="en-US" sz="4600" dirty="0"/>
          </a:p>
          <a:p>
            <a:pPr indent="0" marL="0">
              <a:lnSpc>
                <a:spcPts val="5290"/>
              </a:lnSpc>
              <a:buNone/>
            </a:pPr>
            <a:r>
              <a:rPr lang="en-US" sz="4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cosas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06240"/>
            <a:ext cx="8503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 verdad lo necesito?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¿Puedo esperar un poquito?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¿Tengo con qué pagarlo hoy?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A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148840"/>
            <a:ext cx="2103120" cy="210312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7166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25880"/>
            <a:ext cx="8503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Repartamos la plata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06240"/>
            <a:ext cx="8503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8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grupo recibe fichas de dinero.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8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Decidan cuánto va para materiales, transporte,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8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empaque y cuánto se guarda.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DESCANSO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377440"/>
            <a:ext cx="2103120" cy="210312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9452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2024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Refrigerio</a:t>
            </a:r>
            <a:endParaRPr lang="en-US" sz="5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minutos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A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CERRAR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148840"/>
            <a:ext cx="2103120" cy="210312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7166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25880"/>
            <a:ext cx="8503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se lleva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hoy?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06240"/>
            <a:ext cx="8503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8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quien dice una sola cosa.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8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que no quiera hablar, pasa.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CASA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64040" y="2148840"/>
            <a:ext cx="2103120" cy="210312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882" y="2716682"/>
            <a:ext cx="967435" cy="967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25880"/>
            <a:ext cx="8503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Escoja cómo mostrar</a:t>
            </a:r>
            <a:endParaRPr lang="en-US" sz="4400" dirty="0"/>
          </a:p>
          <a:p>
            <a:pPr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usted hace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06240"/>
            <a:ext cx="8503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9F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frase, un dibujo, un cartel o una foto.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9F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piense en un gasto que sí y en uno que puede esperar.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6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PRÓXIMA CLASE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empezamos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trabajar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9464040" y="2148840"/>
            <a:ext cx="1920240" cy="192024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2505" y="2667305"/>
            <a:ext cx="883310" cy="8833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4297680"/>
            <a:ext cx="10972800" cy="1234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429768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Día: ____________     Hora: ____________     Lugar: ____________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6263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D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Sesion 5 - Usamos la tecnologia y el dinero con proposito</dc:title>
  <dc:subject>PptxGenJS Presentation</dc:subject>
  <dc:creator>Equipo de Personas Mayores</dc:creator>
  <cp:lastModifiedBy>Equipo de Personas Mayores</cp:lastModifiedBy>
  <cp:revision>1</cp:revision>
  <dcterms:created xsi:type="dcterms:W3CDTF">2026-09-09T01:44:08Z</dcterms:created>
  <dcterms:modified xsi:type="dcterms:W3CDTF">2026-09-09T01:44:08Z</dcterms:modified>
</cp:coreProperties>
</file>